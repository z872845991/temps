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3"/>
  </p:notesMasterIdLst>
  <p:sldIdLst>
    <p:sldId id="256" r:id="rId2"/>
    <p:sldId id="274" r:id="rId3"/>
    <p:sldId id="284" r:id="rId4"/>
    <p:sldId id="279" r:id="rId5"/>
    <p:sldId id="280" r:id="rId6"/>
    <p:sldId id="281" r:id="rId7"/>
    <p:sldId id="258" r:id="rId8"/>
    <p:sldId id="276" r:id="rId9"/>
    <p:sldId id="259" r:id="rId10"/>
    <p:sldId id="261" r:id="rId11"/>
    <p:sldId id="262" r:id="rId12"/>
    <p:sldId id="277" r:id="rId13"/>
    <p:sldId id="301" r:id="rId14"/>
    <p:sldId id="302" r:id="rId15"/>
    <p:sldId id="303" r:id="rId16"/>
    <p:sldId id="304" r:id="rId17"/>
    <p:sldId id="300" r:id="rId18"/>
    <p:sldId id="285" r:id="rId19"/>
    <p:sldId id="286" r:id="rId20"/>
    <p:sldId id="288" r:id="rId21"/>
    <p:sldId id="290" r:id="rId22"/>
    <p:sldId id="291" r:id="rId23"/>
    <p:sldId id="292" r:id="rId24"/>
    <p:sldId id="293" r:id="rId25"/>
    <p:sldId id="294" r:id="rId26"/>
    <p:sldId id="306" r:id="rId27"/>
    <p:sldId id="295" r:id="rId28"/>
    <p:sldId id="305" r:id="rId29"/>
    <p:sldId id="268" r:id="rId30"/>
    <p:sldId id="278" r:id="rId31"/>
    <p:sldId id="269" r:id="rId32"/>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clrMru>
    <a:srgbClr val="090DB7"/>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p:scale>
          <a:sx n="100" d="100"/>
          <a:sy n="100" d="100"/>
        </p:scale>
        <p:origin x="-1860" y="-174"/>
      </p:cViewPr>
      <p:guideLst>
        <p:guide orient="horz" pos="2160"/>
        <p:guide pos="288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B070AF1-4B69-4E43-9A76-898855EB0028}" type="datetimeFigureOut">
              <a:rPr lang="zh-CN" altLang="en-US" smtClean="0"/>
              <a:pPr/>
              <a:t>2020/12/25</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A861B9A-AED6-42E0-8184-D9DA775AAE70}" type="slidenum">
              <a:rPr lang="zh-CN" altLang="en-US" smtClean="0"/>
              <a:pPr/>
              <a:t>‹#›</a:t>
            </a:fld>
            <a:endParaRPr lang="zh-CN" altLang="en-US"/>
          </a:p>
        </p:txBody>
      </p:sp>
    </p:spTree>
    <p:extLst>
      <p:ext uri="{BB962C8B-B14F-4D97-AF65-F5344CB8AC3E}">
        <p14:creationId xmlns:p14="http://schemas.microsoft.com/office/powerpoint/2010/main" xmlns="" val="36471981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A861B9A-AED6-42E0-8184-D9DA775AAE70}" type="slidenum">
              <a:rPr lang="zh-CN" altLang="en-US" smtClean="0"/>
              <a:pPr/>
              <a:t>3</a:t>
            </a:fld>
            <a:endParaRPr lang="zh-CN" altLang="en-US"/>
          </a:p>
        </p:txBody>
      </p:sp>
    </p:spTree>
    <p:extLst>
      <p:ext uri="{BB962C8B-B14F-4D97-AF65-F5344CB8AC3E}">
        <p14:creationId xmlns:p14="http://schemas.microsoft.com/office/powerpoint/2010/main" xmlns="" val="32808522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可以布置给学生分组课上或课下完成，每组负责不同的部分。</a:t>
            </a:r>
            <a:endParaRPr lang="en-US" altLang="zh-CN" dirty="0" smtClean="0"/>
          </a:p>
          <a:p>
            <a:r>
              <a:rPr lang="zh-CN" altLang="en-US" dirty="0" smtClean="0"/>
              <a:t>三部分：第</a:t>
            </a:r>
            <a:r>
              <a:rPr lang="en-US" altLang="zh-CN" dirty="0" smtClean="0"/>
              <a:t>1-3</a:t>
            </a:r>
            <a:r>
              <a:rPr lang="zh-CN" altLang="en-US" dirty="0" smtClean="0"/>
              <a:t>段，第</a:t>
            </a:r>
            <a:r>
              <a:rPr lang="en-US" altLang="zh-CN" dirty="0" smtClean="0"/>
              <a:t>4-7</a:t>
            </a:r>
            <a:r>
              <a:rPr lang="zh-CN" altLang="en-US" dirty="0" smtClean="0"/>
              <a:t>段，第</a:t>
            </a:r>
            <a:r>
              <a:rPr lang="en-US" altLang="zh-CN" dirty="0" smtClean="0"/>
              <a:t>8-10</a:t>
            </a:r>
            <a:r>
              <a:rPr lang="zh-CN" altLang="en-US" dirty="0" smtClean="0"/>
              <a:t>段。</a:t>
            </a:r>
            <a:endParaRPr lang="en-US" altLang="zh-CN" dirty="0" smtClean="0"/>
          </a:p>
          <a:p>
            <a:endParaRPr lang="en-US" altLang="zh-CN" dirty="0" smtClean="0"/>
          </a:p>
        </p:txBody>
      </p:sp>
      <p:sp>
        <p:nvSpPr>
          <p:cNvPr id="4" name="灯片编号占位符 3"/>
          <p:cNvSpPr>
            <a:spLocks noGrp="1"/>
          </p:cNvSpPr>
          <p:nvPr>
            <p:ph type="sldNum" sz="quarter" idx="10"/>
          </p:nvPr>
        </p:nvSpPr>
        <p:spPr/>
        <p:txBody>
          <a:bodyPr/>
          <a:lstStyle/>
          <a:p>
            <a:fld id="{654227BC-7600-4806-A43D-053EDBDB3AE8}" type="slidenum">
              <a:rPr lang="zh-CN" altLang="en-US" smtClean="0"/>
              <a:pPr/>
              <a:t>24</a:t>
            </a:fld>
            <a:endParaRPr lang="zh-CN" altLang="en-US"/>
          </a:p>
        </p:txBody>
      </p:sp>
    </p:spTree>
    <p:extLst>
      <p:ext uri="{BB962C8B-B14F-4D97-AF65-F5344CB8AC3E}">
        <p14:creationId xmlns:p14="http://schemas.microsoft.com/office/powerpoint/2010/main" xmlns="" val="21018859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4227BC-7600-4806-A43D-053EDBDB3AE8}" type="slidenum">
              <a:rPr lang="zh-CN" altLang="en-US" smtClean="0"/>
              <a:pPr/>
              <a:t>27</a:t>
            </a:fld>
            <a:endParaRPr lang="zh-CN" altLang="en-US"/>
          </a:p>
        </p:txBody>
      </p:sp>
    </p:spTree>
    <p:extLst>
      <p:ext uri="{BB962C8B-B14F-4D97-AF65-F5344CB8AC3E}">
        <p14:creationId xmlns:p14="http://schemas.microsoft.com/office/powerpoint/2010/main" xmlns="" val="21928470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4227BC-7600-4806-A43D-053EDBDB3AE8}" type="slidenum">
              <a:rPr lang="zh-CN" altLang="en-US" smtClean="0"/>
              <a:pPr/>
              <a:t>28</a:t>
            </a:fld>
            <a:endParaRPr lang="zh-CN" altLang="en-US"/>
          </a:p>
        </p:txBody>
      </p:sp>
    </p:spTree>
    <p:extLst>
      <p:ext uri="{BB962C8B-B14F-4D97-AF65-F5344CB8AC3E}">
        <p14:creationId xmlns="" xmlns:p14="http://schemas.microsoft.com/office/powerpoint/2010/main" val="39017334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16" name="Rounded Rectangle 15"/>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9"/>
          <p:cNvGrpSpPr>
            <a:grpSpLocks noChangeAspect="1"/>
          </p:cNvGrpSpPr>
          <p:nvPr/>
        </p:nvGrpSpPr>
        <p:grpSpPr bwMode="hidden">
          <a:xfrm>
            <a:off x="211665" y="5353963"/>
            <a:ext cx="8723376" cy="1331580"/>
            <a:chOff x="-3905250" y="4294188"/>
            <a:chExt cx="13011150" cy="1892300"/>
          </a:xfrm>
        </p:grpSpPr>
        <p:sp>
          <p:nvSpPr>
            <p:cNvPr id="11"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5"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ctrTitle"/>
          </p:nvPr>
        </p:nvSpPr>
        <p:spPr>
          <a:xfrm>
            <a:off x="685800" y="1600200"/>
            <a:ext cx="7772400" cy="1780108"/>
          </a:xfrm>
        </p:spPr>
        <p:txBody>
          <a:bodyPr anchor="b">
            <a:normAutofit/>
          </a:bodyPr>
          <a:lstStyle>
            <a:lvl1pPr>
              <a:defRPr sz="4400">
                <a:solidFill>
                  <a:srgbClr val="FFFFFF"/>
                </a:solidFill>
              </a:defRPr>
            </a:lvl1pPr>
          </a:lstStyle>
          <a:p>
            <a:r>
              <a:rPr lang="zh-CN" altLang="en-US" smtClean="0"/>
              <a:t>单击此处编辑母版标题样式</a:t>
            </a:r>
            <a:endParaRPr lang="en-US" dirty="0"/>
          </a:p>
        </p:txBody>
      </p:sp>
      <p:sp>
        <p:nvSpPr>
          <p:cNvPr id="3" name="Subtitle 2"/>
          <p:cNvSpPr>
            <a:spLocks noGrp="1"/>
          </p:cNvSpPr>
          <p:nvPr>
            <p:ph type="subTitle" idx="1"/>
          </p:nvPr>
        </p:nvSpPr>
        <p:spPr>
          <a:xfrm>
            <a:off x="1371600" y="3556001"/>
            <a:ext cx="6400800" cy="1473200"/>
          </a:xfrm>
        </p:spPr>
        <p:txBody>
          <a:bodyPr>
            <a:normAutofit/>
          </a:bodyPr>
          <a:lstStyle>
            <a:lvl1pPr marL="0" indent="0" algn="ctr">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en-US" dirty="0"/>
          </a:p>
        </p:txBody>
      </p:sp>
      <p:sp>
        <p:nvSpPr>
          <p:cNvPr id="4" name="Date Placeholder 3"/>
          <p:cNvSpPr>
            <a:spLocks noGrp="1"/>
          </p:cNvSpPr>
          <p:nvPr>
            <p:ph type="dt" sz="half" idx="10"/>
          </p:nvPr>
        </p:nvSpPr>
        <p:spPr/>
        <p:txBody>
          <a:bodyPr/>
          <a:lstStyle/>
          <a:p>
            <a:fld id="{F792E42C-ADF4-44CE-A45E-6D3F66BC2CD0}" type="datetimeFigureOut">
              <a:rPr lang="zh-CN" altLang="en-US" smtClean="0"/>
              <a:pPr/>
              <a:t>2020/12/25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D21D60A-8614-4943-B5C4-FA06C970E4B9}" type="slidenum">
              <a:rPr lang="zh-CN" altLang="en-US" smtClean="0"/>
              <a:pPr/>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a:p>
        </p:txBody>
      </p:sp>
      <p:sp>
        <p:nvSpPr>
          <p:cNvPr id="4" name="Date Placeholder 3"/>
          <p:cNvSpPr>
            <a:spLocks noGrp="1"/>
          </p:cNvSpPr>
          <p:nvPr>
            <p:ph type="dt" sz="half" idx="10"/>
          </p:nvPr>
        </p:nvSpPr>
        <p:spPr/>
        <p:txBody>
          <a:bodyPr/>
          <a:lstStyle/>
          <a:p>
            <a:fld id="{F792E42C-ADF4-44CE-A45E-6D3F66BC2CD0}" type="datetimeFigureOut">
              <a:rPr lang="zh-CN" altLang="en-US" smtClean="0"/>
              <a:pPr/>
              <a:t>2020/12/25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D21D60A-8614-4943-B5C4-FA06C970E4B9}" type="slidenum">
              <a:rPr lang="zh-CN" altLang="en-US" smtClean="0"/>
              <a:pPr/>
              <a:t>‹#›</a:t>
            </a:fld>
            <a:endParaRPr lang="zh-CN" altLang="en-US"/>
          </a:p>
        </p:txBody>
      </p:sp>
      <p:sp>
        <p:nvSpPr>
          <p:cNvPr id="7" name="Title 6"/>
          <p:cNvSpPr>
            <a:spLocks noGrp="1"/>
          </p:cNvSpPr>
          <p:nvPr>
            <p:ph type="title"/>
          </p:nvPr>
        </p:nvSpPr>
        <p:spPr/>
        <p:txBody>
          <a:bodyPr/>
          <a:lstStyle/>
          <a:p>
            <a:r>
              <a:rPr lang="zh-CN" altLang="en-US" smtClean="0"/>
              <a:t>单击此处编辑母版标题样式</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14" name="Rounded Rectangle 13"/>
          <p:cNvSpPr/>
          <p:nvPr/>
        </p:nvSpPr>
        <p:spPr>
          <a:xfrm>
            <a:off x="228600" y="228600"/>
            <a:ext cx="8695944" cy="4736592"/>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14"/>
          <p:cNvSpPr>
            <a:spLocks/>
          </p:cNvSpPr>
          <p:nvPr/>
        </p:nvSpPr>
        <p:spPr bwMode="hidden">
          <a:xfrm>
            <a:off x="6047438" y="4203592"/>
            <a:ext cx="2876429" cy="714026"/>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18"/>
          <p:cNvSpPr>
            <a:spLocks/>
          </p:cNvSpPr>
          <p:nvPr/>
        </p:nvSpPr>
        <p:spPr bwMode="hidden">
          <a:xfrm>
            <a:off x="2619320" y="4075290"/>
            <a:ext cx="5544515" cy="850138"/>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22"/>
          <p:cNvSpPr>
            <a:spLocks/>
          </p:cNvSpPr>
          <p:nvPr/>
        </p:nvSpPr>
        <p:spPr bwMode="hidden">
          <a:xfrm>
            <a:off x="2828728" y="4087562"/>
            <a:ext cx="5467980" cy="774272"/>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6"/>
          <p:cNvSpPr>
            <a:spLocks/>
          </p:cNvSpPr>
          <p:nvPr/>
        </p:nvSpPr>
        <p:spPr bwMode="hidden">
          <a:xfrm>
            <a:off x="5609489" y="4074174"/>
            <a:ext cx="3308000" cy="651549"/>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3" name="Freeform 10"/>
          <p:cNvSpPr>
            <a:spLocks/>
          </p:cNvSpPr>
          <p:nvPr/>
        </p:nvSpPr>
        <p:spPr bwMode="hidden">
          <a:xfrm>
            <a:off x="211665" y="4058555"/>
            <a:ext cx="8723376" cy="1329874"/>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Title 1"/>
          <p:cNvSpPr>
            <a:spLocks noGrp="1"/>
          </p:cNvSpPr>
          <p:nvPr>
            <p:ph type="title"/>
          </p:nvPr>
        </p:nvSpPr>
        <p:spPr>
          <a:xfrm>
            <a:off x="690032" y="2463560"/>
            <a:ext cx="7772400" cy="1524000"/>
          </a:xfrm>
        </p:spPr>
        <p:txBody>
          <a:bodyPr anchor="t">
            <a:normAutofit/>
          </a:bodyPr>
          <a:lstStyle>
            <a:lvl1pPr algn="ctr">
              <a:defRPr sz="4400" b="0" cap="none"/>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1367365" y="1437448"/>
            <a:ext cx="6417734" cy="939801"/>
          </a:xfrm>
        </p:spPr>
        <p:txBody>
          <a:bodyPr anchor="b">
            <a:normAutofit/>
          </a:bodyPr>
          <a:lstStyle>
            <a:lvl1pPr marL="0" indent="0" algn="ctr">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Date Placeholder 3"/>
          <p:cNvSpPr>
            <a:spLocks noGrp="1"/>
          </p:cNvSpPr>
          <p:nvPr>
            <p:ph type="dt" sz="half" idx="10"/>
          </p:nvPr>
        </p:nvSpPr>
        <p:spPr/>
        <p:txBody>
          <a:bodyPr/>
          <a:lstStyle/>
          <a:p>
            <a:fld id="{F792E42C-ADF4-44CE-A45E-6D3F66BC2CD0}" type="datetimeFigureOut">
              <a:rPr lang="zh-CN" altLang="en-US" smtClean="0"/>
              <a:pPr/>
              <a:t>2020/12/25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D21D60A-8614-4943-B5C4-FA06C970E4B9}" type="slidenum">
              <a:rPr lang="zh-CN" altLang="en-US" smtClean="0"/>
              <a:pPr/>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a:p>
        </p:txBody>
      </p:sp>
      <p:sp>
        <p:nvSpPr>
          <p:cNvPr id="5" name="Date Placeholder 4"/>
          <p:cNvSpPr>
            <a:spLocks noGrp="1"/>
          </p:cNvSpPr>
          <p:nvPr>
            <p:ph type="dt" sz="half" idx="10"/>
          </p:nvPr>
        </p:nvSpPr>
        <p:spPr/>
        <p:txBody>
          <a:bodyPr/>
          <a:lstStyle/>
          <a:p>
            <a:fld id="{F792E42C-ADF4-44CE-A45E-6D3F66BC2CD0}" type="datetimeFigureOut">
              <a:rPr lang="zh-CN" altLang="en-US" smtClean="0"/>
              <a:pPr/>
              <a:t>2020/12/25</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D21D60A-8614-4943-B5C4-FA06C970E4B9}" type="slidenum">
              <a:rPr lang="zh-CN" altLang="en-US" smtClean="0"/>
              <a:pPr/>
              <a:t>‹#›</a:t>
            </a:fld>
            <a:endParaRPr lang="zh-CN" altLang="en-US"/>
          </a:p>
        </p:txBody>
      </p:sp>
      <p:sp>
        <p:nvSpPr>
          <p:cNvPr id="9" name="Content Placeholder 8"/>
          <p:cNvSpPr>
            <a:spLocks noGrp="1"/>
          </p:cNvSpPr>
          <p:nvPr>
            <p:ph sz="quarter" idx="13"/>
          </p:nvPr>
        </p:nvSpPr>
        <p:spPr>
          <a:xfrm>
            <a:off x="676655" y="2679192"/>
            <a:ext cx="3822192" cy="34472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a:p>
        </p:txBody>
      </p:sp>
      <p:sp>
        <p:nvSpPr>
          <p:cNvPr id="11" name="Content Placeholder 10"/>
          <p:cNvSpPr>
            <a:spLocks noGrp="1"/>
          </p:cNvSpPr>
          <p:nvPr>
            <p:ph sz="quarter" idx="14"/>
          </p:nvPr>
        </p:nvSpPr>
        <p:spPr>
          <a:xfrm>
            <a:off x="4645152" y="2679192"/>
            <a:ext cx="3822192" cy="34472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smtClean="0"/>
              <a:t>单击此处编辑母版标题样式</a:t>
            </a:r>
            <a:endParaRPr lang="en-US"/>
          </a:p>
        </p:txBody>
      </p:sp>
      <p:sp>
        <p:nvSpPr>
          <p:cNvPr id="3" name="Text Placeholder 2"/>
          <p:cNvSpPr>
            <a:spLocks noGrp="1"/>
          </p:cNvSpPr>
          <p:nvPr>
            <p:ph type="body" idx="1"/>
          </p:nvPr>
        </p:nvSpPr>
        <p:spPr>
          <a:xfrm>
            <a:off x="676656" y="2678114"/>
            <a:ext cx="3822192" cy="639762"/>
          </a:xfrm>
        </p:spPr>
        <p:txBody>
          <a:bodyPr anchor="ctr"/>
          <a:lstStyle>
            <a:lvl1pPr marL="0" indent="0" algn="ctr">
              <a:buNone/>
              <a:defRPr sz="2400" b="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Content Placeholder 3"/>
          <p:cNvSpPr>
            <a:spLocks noGrp="1"/>
          </p:cNvSpPr>
          <p:nvPr>
            <p:ph sz="half" idx="2"/>
          </p:nvPr>
        </p:nvSpPr>
        <p:spPr>
          <a:xfrm>
            <a:off x="677332" y="3429000"/>
            <a:ext cx="3820055"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Text Placeholder 4"/>
          <p:cNvSpPr>
            <a:spLocks noGrp="1"/>
          </p:cNvSpPr>
          <p:nvPr>
            <p:ph type="body" sz="quarter" idx="3"/>
          </p:nvPr>
        </p:nvSpPr>
        <p:spPr>
          <a:xfrm>
            <a:off x="4648200" y="2678113"/>
            <a:ext cx="3822192" cy="639762"/>
          </a:xfrm>
        </p:spPr>
        <p:txBody>
          <a:bodyPr anchor="ctr"/>
          <a:lstStyle>
            <a:lvl1pPr marL="0" indent="0" algn="ctr">
              <a:buNone/>
              <a:defRPr sz="2400" b="0" i="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Content Placeholder 5"/>
          <p:cNvSpPr>
            <a:spLocks noGrp="1"/>
          </p:cNvSpPr>
          <p:nvPr>
            <p:ph sz="quarter" idx="4"/>
          </p:nvPr>
        </p:nvSpPr>
        <p:spPr>
          <a:xfrm>
            <a:off x="4645025" y="3429000"/>
            <a:ext cx="3822192"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7" name="Date Placeholder 6"/>
          <p:cNvSpPr>
            <a:spLocks noGrp="1"/>
          </p:cNvSpPr>
          <p:nvPr>
            <p:ph type="dt" sz="half" idx="10"/>
          </p:nvPr>
        </p:nvSpPr>
        <p:spPr/>
        <p:txBody>
          <a:bodyPr/>
          <a:lstStyle/>
          <a:p>
            <a:fld id="{F792E42C-ADF4-44CE-A45E-6D3F66BC2CD0}" type="datetimeFigureOut">
              <a:rPr lang="zh-CN" altLang="en-US" smtClean="0"/>
              <a:pPr/>
              <a:t>2020/12/25</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5D21D60A-8614-4943-B5C4-FA06C970E4B9}" type="slidenum">
              <a:rPr lang="zh-CN" altLang="en-US" smtClean="0"/>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a:p>
        </p:txBody>
      </p:sp>
      <p:sp>
        <p:nvSpPr>
          <p:cNvPr id="3" name="Date Placeholder 2"/>
          <p:cNvSpPr>
            <a:spLocks noGrp="1"/>
          </p:cNvSpPr>
          <p:nvPr>
            <p:ph type="dt" sz="half" idx="10"/>
          </p:nvPr>
        </p:nvSpPr>
        <p:spPr/>
        <p:txBody>
          <a:bodyPr/>
          <a:lstStyle/>
          <a:p>
            <a:fld id="{F792E42C-ADF4-44CE-A45E-6D3F66BC2CD0}" type="datetimeFigureOut">
              <a:rPr lang="zh-CN" altLang="en-US" smtClean="0"/>
              <a:pPr/>
              <a:t>2020/12/25</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5D21D60A-8614-4943-B5C4-FA06C970E4B9}" type="slidenum">
              <a:rPr lang="zh-CN" altLang="en-US" smtClean="0"/>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12" name="Rounded Rectangle 11"/>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p:cNvGrpSpPr>
            <a:grpSpLocks noChangeAspect="1"/>
          </p:cNvGrpSpPr>
          <p:nvPr/>
        </p:nvGrpSpPr>
        <p:grpSpPr bwMode="hidden">
          <a:xfrm>
            <a:off x="211665" y="714191"/>
            <a:ext cx="8723376" cy="1329874"/>
            <a:chOff x="-3905251" y="4294188"/>
            <a:chExt cx="13027839" cy="1892300"/>
          </a:xfrm>
        </p:grpSpPr>
        <p:sp>
          <p:nvSpPr>
            <p:cNvPr id="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Date Placeholder 1"/>
          <p:cNvSpPr>
            <a:spLocks noGrp="1"/>
          </p:cNvSpPr>
          <p:nvPr>
            <p:ph type="dt" sz="half" idx="10"/>
          </p:nvPr>
        </p:nvSpPr>
        <p:spPr/>
        <p:txBody>
          <a:bodyPr/>
          <a:lstStyle/>
          <a:p>
            <a:fld id="{F792E42C-ADF4-44CE-A45E-6D3F66BC2CD0}" type="datetimeFigureOut">
              <a:rPr lang="zh-CN" altLang="en-US" smtClean="0"/>
              <a:pPr/>
              <a:t>2020/12/25</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5D21D60A-8614-4943-B5C4-FA06C970E4B9}" type="slidenum">
              <a:rPr lang="zh-CN" altLang="en-US" smtClean="0"/>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15" name="Rounded Rectangle 14"/>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fld id="{F792E42C-ADF4-44CE-A45E-6D3F66BC2CD0}" type="datetimeFigureOut">
              <a:rPr lang="zh-CN" altLang="en-US" smtClean="0"/>
              <a:pPr/>
              <a:t>2020/12/25</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D21D60A-8614-4943-B5C4-FA06C970E4B9}" type="slidenum">
              <a:rPr lang="zh-CN" altLang="en-US" smtClean="0"/>
              <a:pPr/>
              <a:t>‹#›</a:t>
            </a:fld>
            <a:endParaRPr lang="zh-CN" altLang="en-US"/>
          </a:p>
        </p:txBody>
      </p:sp>
      <p:sp>
        <p:nvSpPr>
          <p:cNvPr id="4" name="Text Placeholder 3"/>
          <p:cNvSpPr>
            <a:spLocks noGrp="1"/>
          </p:cNvSpPr>
          <p:nvPr>
            <p:ph type="body" sz="half" idx="2"/>
          </p:nvPr>
        </p:nvSpPr>
        <p:spPr>
          <a:xfrm>
            <a:off x="914400" y="3581400"/>
            <a:ext cx="3352800" cy="1905001"/>
          </a:xfrm>
        </p:spPr>
        <p:txBody>
          <a:bodyPr anchor="t">
            <a:normAutofit/>
          </a:bodyPr>
          <a:lstStyle>
            <a:lvl1pPr marL="0" indent="0">
              <a:spcBef>
                <a:spcPts val="0"/>
              </a:spcBef>
              <a:spcAft>
                <a:spcPts val="600"/>
              </a:spcAft>
              <a:buNone/>
              <a:defRPr sz="18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grpSp>
        <p:nvGrpSpPr>
          <p:cNvPr id="2" name="Group 23"/>
          <p:cNvGrpSpPr>
            <a:grpSpLocks noChangeAspect="1"/>
          </p:cNvGrpSpPr>
          <p:nvPr/>
        </p:nvGrpSpPr>
        <p:grpSpPr bwMode="hidden">
          <a:xfrm>
            <a:off x="211665" y="714191"/>
            <a:ext cx="8723376" cy="1331580"/>
            <a:chOff x="-3905250" y="4294188"/>
            <a:chExt cx="13011150" cy="1892300"/>
          </a:xfrm>
        </p:grpSpPr>
        <p:sp>
          <p:nvSpPr>
            <p:cNvPr id="25"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6"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7"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9" name="Freeform 28"/>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2" name="Title 21"/>
          <p:cNvSpPr>
            <a:spLocks noGrp="1"/>
          </p:cNvSpPr>
          <p:nvPr>
            <p:ph type="title"/>
          </p:nvPr>
        </p:nvSpPr>
        <p:spPr>
          <a:xfrm>
            <a:off x="914400" y="2286000"/>
            <a:ext cx="3352800" cy="1252728"/>
          </a:xfrm>
        </p:spPr>
        <p:txBody>
          <a:bodyPr anchor="b">
            <a:noAutofit/>
          </a:bodyPr>
          <a:lstStyle>
            <a:lvl1pPr algn="l">
              <a:defRPr sz="3200">
                <a:solidFill>
                  <a:schemeClr val="tx2"/>
                </a:solidFill>
              </a:defRPr>
            </a:lvl1pPr>
          </a:lstStyle>
          <a:p>
            <a:r>
              <a:rPr lang="zh-CN" altLang="en-US" smtClean="0"/>
              <a:t>单击此处编辑母版标题样式</a:t>
            </a:r>
            <a:endParaRPr lang="en-US" dirty="0"/>
          </a:p>
        </p:txBody>
      </p:sp>
      <p:sp>
        <p:nvSpPr>
          <p:cNvPr id="3" name="Content Placeholder 2"/>
          <p:cNvSpPr>
            <a:spLocks noGrp="1"/>
          </p:cNvSpPr>
          <p:nvPr>
            <p:ph idx="1"/>
          </p:nvPr>
        </p:nvSpPr>
        <p:spPr>
          <a:xfrm>
            <a:off x="4651962" y="1828800"/>
            <a:ext cx="3904076" cy="3810000"/>
          </a:xfrm>
        </p:spPr>
        <p:txBody>
          <a:bodyPr anchor="ctr"/>
          <a:lstStyle>
            <a:lvl1pPr>
              <a:buClr>
                <a:schemeClr val="bg1"/>
              </a:buClr>
              <a:defRPr sz="2200">
                <a:solidFill>
                  <a:schemeClr val="tx2"/>
                </a:solidFill>
              </a:defRPr>
            </a:lvl1pPr>
            <a:lvl2pPr>
              <a:buClr>
                <a:schemeClr val="bg1"/>
              </a:buClr>
              <a:defRPr sz="2000">
                <a:solidFill>
                  <a:schemeClr val="tx2"/>
                </a:solidFill>
              </a:defRPr>
            </a:lvl2pPr>
            <a:lvl3pPr>
              <a:buClr>
                <a:schemeClr val="bg1"/>
              </a:buClr>
              <a:defRPr sz="1800">
                <a:solidFill>
                  <a:schemeClr val="tx2"/>
                </a:solidFill>
              </a:defRPr>
            </a:lvl3pPr>
            <a:lvl4pPr>
              <a:buClr>
                <a:schemeClr val="bg1"/>
              </a:buClr>
              <a:defRPr sz="1600">
                <a:solidFill>
                  <a:schemeClr val="tx2"/>
                </a:solidFill>
              </a:defRPr>
            </a:lvl4pPr>
            <a:lvl5pPr>
              <a:buClr>
                <a:schemeClr val="bg1"/>
              </a:buClr>
              <a:defRPr sz="1600">
                <a:solidFill>
                  <a:schemeClr val="tx2"/>
                </a:solidFill>
              </a:defRPr>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15" name="Rounded Rectangle 14"/>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p:cNvGrpSpPr>
            <a:grpSpLocks noChangeAspect="1"/>
          </p:cNvGrpSpPr>
          <p:nvPr/>
        </p:nvGrpSpPr>
        <p:grpSpPr bwMode="hidden">
          <a:xfrm>
            <a:off x="211665" y="5353963"/>
            <a:ext cx="8723376" cy="1331580"/>
            <a:chOff x="-3905250" y="4294188"/>
            <a:chExt cx="13011150" cy="1892300"/>
          </a:xfrm>
        </p:grpSpPr>
        <p:sp>
          <p:nvSpPr>
            <p:cNvPr id="10"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4"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title"/>
          </p:nvPr>
        </p:nvSpPr>
        <p:spPr>
          <a:xfrm>
            <a:off x="4874155" y="338667"/>
            <a:ext cx="3812645" cy="2429934"/>
          </a:xfrm>
        </p:spPr>
        <p:txBody>
          <a:bodyPr anchor="b">
            <a:normAutofit/>
          </a:bodyPr>
          <a:lstStyle>
            <a:lvl1pPr algn="l">
              <a:defRPr sz="2800" b="0">
                <a:solidFill>
                  <a:srgbClr val="FFFFFF"/>
                </a:solidFill>
              </a:defRPr>
            </a:lvl1pPr>
          </a:lstStyle>
          <a:p>
            <a:r>
              <a:rPr lang="zh-CN" altLang="en-US" smtClean="0"/>
              <a:t>单击此处编辑母版标题样式</a:t>
            </a:r>
            <a:endParaRPr lang="en-US" dirty="0"/>
          </a:p>
        </p:txBody>
      </p:sp>
      <p:sp>
        <p:nvSpPr>
          <p:cNvPr id="4" name="Text Placeholder 3"/>
          <p:cNvSpPr>
            <a:spLocks noGrp="1"/>
          </p:cNvSpPr>
          <p:nvPr>
            <p:ph type="body" sz="half" idx="2"/>
          </p:nvPr>
        </p:nvSpPr>
        <p:spPr>
          <a:xfrm>
            <a:off x="4868333" y="2785533"/>
            <a:ext cx="3818467" cy="2421467"/>
          </a:xfrm>
        </p:spPr>
        <p:txBody>
          <a:bodyPr>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Date Placeholder 4"/>
          <p:cNvSpPr>
            <a:spLocks noGrp="1"/>
          </p:cNvSpPr>
          <p:nvPr>
            <p:ph type="dt" sz="half" idx="10"/>
          </p:nvPr>
        </p:nvSpPr>
        <p:spPr/>
        <p:txBody>
          <a:bodyPr/>
          <a:lstStyle/>
          <a:p>
            <a:fld id="{F792E42C-ADF4-44CE-A45E-6D3F66BC2CD0}" type="datetimeFigureOut">
              <a:rPr lang="zh-CN" altLang="en-US" smtClean="0"/>
              <a:pPr/>
              <a:t>2020/12/25</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D21D60A-8614-4943-B5C4-FA06C970E4B9}" type="slidenum">
              <a:rPr lang="zh-CN" altLang="en-US" smtClean="0"/>
              <a:pPr/>
              <a:t>‹#›</a:t>
            </a:fld>
            <a:endParaRPr lang="zh-CN" altLang="en-US"/>
          </a:p>
        </p:txBody>
      </p:sp>
      <p:sp>
        <p:nvSpPr>
          <p:cNvPr id="3" name="Picture Placeholder 2"/>
          <p:cNvSpPr>
            <a:spLocks noGrp="1"/>
          </p:cNvSpPr>
          <p:nvPr>
            <p:ph type="pic" idx="1"/>
          </p:nvPr>
        </p:nvSpPr>
        <p:spPr>
          <a:xfrm>
            <a:off x="838200" y="1371600"/>
            <a:ext cx="3566160" cy="2926080"/>
          </a:xfrm>
          <a:prstGeom prst="roundRect">
            <a:avLst>
              <a:gd name="adj" fmla="val 3924"/>
            </a:avLst>
          </a:prstGeom>
          <a:solidFill>
            <a:schemeClr val="accent1"/>
          </a:solidFill>
          <a:ln>
            <a:noFill/>
          </a:ln>
          <a:effectLst>
            <a:reflection blurRad="12700" stA="30000" endPos="30000" dist="5000" dir="5400000" sy="-100000" algn="bl" rotWithShape="0"/>
          </a:effectLst>
          <a:scene3d>
            <a:camera prst="perspectiveContrastingLeftFacing" fov="600000">
              <a:rot lat="240000" lon="19799999" rev="0"/>
            </a:camera>
            <a:lightRig rig="threePt" dir="t">
              <a:rot lat="0" lon="0" rev="2700000"/>
            </a:lightRig>
          </a:scene3d>
          <a:sp3d>
            <a:bevelT w="44450" h="31750"/>
          </a:sp3d>
        </p:spPr>
        <p:txBody>
          <a:bodyPr/>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单击图标添加图片</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a:p>
        </p:txBody>
      </p:sp>
      <p:sp>
        <p:nvSpPr>
          <p:cNvPr id="3" name="Vertical Text Placeholder 2"/>
          <p:cNvSpPr>
            <a:spLocks noGrp="1"/>
          </p:cNvSpPr>
          <p:nvPr>
            <p:ph type="body" orient="vert" idx="1"/>
          </p:nvPr>
        </p:nvSpPr>
        <p:spPr/>
        <p:txBody>
          <a:bodyPr vert="eaVert" anchor="ctr"/>
          <a:lstStyle>
            <a:lvl1pPr algn="l">
              <a:defRPr/>
            </a:lvl1pPr>
            <a:lvl2pPr algn="l">
              <a:defRPr/>
            </a:lvl2pPr>
            <a:lvl3pPr algn="l">
              <a:defRPr/>
            </a:lvl3pPr>
            <a:lvl4pPr algn="l">
              <a:defRPr/>
            </a:lvl4pPr>
            <a:lvl5pPr algn="l">
              <a:defRPr/>
            </a:lvl5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a:p>
        </p:txBody>
      </p:sp>
      <p:sp>
        <p:nvSpPr>
          <p:cNvPr id="4" name="Date Placeholder 3"/>
          <p:cNvSpPr>
            <a:spLocks noGrp="1"/>
          </p:cNvSpPr>
          <p:nvPr>
            <p:ph type="dt" sz="half" idx="10"/>
          </p:nvPr>
        </p:nvSpPr>
        <p:spPr/>
        <p:txBody>
          <a:bodyPr/>
          <a:lstStyle/>
          <a:p>
            <a:fld id="{F792E42C-ADF4-44CE-A45E-6D3F66BC2CD0}" type="datetimeFigureOut">
              <a:rPr lang="zh-CN" altLang="en-US" smtClean="0"/>
              <a:pPr/>
              <a:t>2020/12/25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D21D60A-8614-4943-B5C4-FA06C970E4B9}" type="slidenum">
              <a:rPr lang="zh-CN" altLang="en-US" smtClean="0"/>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spTree>
      <p:nvGrpSpPr>
        <p:cNvPr id="1" name=""/>
        <p:cNvGrpSpPr/>
        <p:nvPr/>
      </p:nvGrpSpPr>
      <p:grpSpPr>
        <a:xfrm>
          <a:off x="0" y="0"/>
          <a:ext cx="0" cy="0"/>
          <a:chOff x="0" y="0"/>
          <a:chExt cx="0" cy="0"/>
        </a:xfrm>
      </p:grpSpPr>
      <p:sp>
        <p:nvSpPr>
          <p:cNvPr id="21" name="Rounded Rectangle 20"/>
          <p:cNvSpPr/>
          <p:nvPr/>
        </p:nvSpPr>
        <p:spPr bwMode="hidden">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fld id="{F792E42C-ADF4-44CE-A45E-6D3F66BC2CD0}" type="datetimeFigureOut">
              <a:rPr lang="zh-CN" altLang="en-US" smtClean="0"/>
              <a:pPr/>
              <a:t>2020/12/25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D21D60A-8614-4943-B5C4-FA06C970E4B9}" type="slidenum">
              <a:rPr lang="zh-CN" altLang="en-US" smtClean="0"/>
              <a:pPr/>
              <a:t>‹#›</a:t>
            </a:fld>
            <a:endParaRPr lang="zh-CN" altLang="en-US"/>
          </a:p>
        </p:txBody>
      </p:sp>
      <p:grpSp>
        <p:nvGrpSpPr>
          <p:cNvPr id="15" name="Group 14"/>
          <p:cNvGrpSpPr>
            <a:grpSpLocks noChangeAspect="1"/>
          </p:cNvGrpSpPr>
          <p:nvPr/>
        </p:nvGrpSpPr>
        <p:grpSpPr bwMode="hidden">
          <a:xfrm>
            <a:off x="211665" y="714191"/>
            <a:ext cx="8723376" cy="1331580"/>
            <a:chOff x="-3905250" y="4294188"/>
            <a:chExt cx="13011150" cy="1892300"/>
          </a:xfrm>
        </p:grpSpPr>
        <p:sp>
          <p:nvSpPr>
            <p:cNvPr id="16"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0" name="Freeform 19"/>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Vertical Title 1"/>
          <p:cNvSpPr>
            <a:spLocks noGrp="1"/>
          </p:cNvSpPr>
          <p:nvPr>
            <p:ph type="title" orient="vert"/>
          </p:nvPr>
        </p:nvSpPr>
        <p:spPr>
          <a:xfrm>
            <a:off x="6629400" y="1447800"/>
            <a:ext cx="2057400" cy="4487333"/>
          </a:xfrm>
        </p:spPr>
        <p:txBody>
          <a:bodyPr vert="eaVert" anchor="ctr"/>
          <a:lstStyle>
            <a:lvl1pPr algn="l">
              <a:defRPr>
                <a:solidFill>
                  <a:schemeClr val="tx2"/>
                </a:solidFill>
              </a:defRPr>
            </a:lvl1pPr>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457200" y="1447800"/>
            <a:ext cx="6019800" cy="4487334"/>
          </a:xfrm>
        </p:spPr>
        <p:txBody>
          <a:bodyPr vert="eaVert"/>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 name="Rounded Rectangle 13"/>
          <p:cNvSpPr/>
          <p:nvPr/>
        </p:nvSpPr>
        <p:spPr>
          <a:xfrm>
            <a:off x="228600" y="228600"/>
            <a:ext cx="8695944" cy="2468880"/>
          </a:xfrm>
          <a:prstGeom prst="roundRect">
            <a:avLst>
              <a:gd name="adj" fmla="val 3362"/>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15"/>
          <p:cNvGrpSpPr>
            <a:grpSpLocks noChangeAspect="1"/>
          </p:cNvGrpSpPr>
          <p:nvPr/>
        </p:nvGrpSpPr>
        <p:grpSpPr bwMode="hidden">
          <a:xfrm>
            <a:off x="211665" y="1679429"/>
            <a:ext cx="8723376" cy="1329874"/>
            <a:chOff x="-3905251" y="4294188"/>
            <a:chExt cx="13027839" cy="1892300"/>
          </a:xfrm>
        </p:grpSpPr>
        <p:sp>
          <p:nvSpPr>
            <p:cNvPr id="1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Placeholder 1"/>
          <p:cNvSpPr>
            <a:spLocks noGrp="1"/>
          </p:cNvSpPr>
          <p:nvPr>
            <p:ph type="title"/>
          </p:nvPr>
        </p:nvSpPr>
        <p:spPr>
          <a:xfrm>
            <a:off x="457200" y="338328"/>
            <a:ext cx="8229600" cy="1252728"/>
          </a:xfrm>
          <a:prstGeom prst="rect">
            <a:avLst/>
          </a:prstGeom>
        </p:spPr>
        <p:txBody>
          <a:bodyPr vert="horz" lIns="91440" tIns="45720" rIns="91440" bIns="45720" rtlCol="0" anchor="ctr">
            <a:normAutofit/>
          </a:bodyPr>
          <a:lstStyle/>
          <a:p>
            <a:r>
              <a:rPr lang="zh-CN" altLang="en-US" smtClean="0"/>
              <a:t>单击此处编辑母版标题样式</a:t>
            </a:r>
            <a:endParaRPr lang="en-US" dirty="0"/>
          </a:p>
        </p:txBody>
      </p:sp>
      <p:sp>
        <p:nvSpPr>
          <p:cNvPr id="4" name="Date Placeholder 3"/>
          <p:cNvSpPr>
            <a:spLocks noGrp="1"/>
          </p:cNvSpPr>
          <p:nvPr>
            <p:ph type="dt" sz="half" idx="2"/>
          </p:nvPr>
        </p:nvSpPr>
        <p:spPr>
          <a:xfrm>
            <a:off x="5163672" y="6250164"/>
            <a:ext cx="3786690" cy="365125"/>
          </a:xfrm>
          <a:prstGeom prst="rect">
            <a:avLst/>
          </a:prstGeom>
        </p:spPr>
        <p:txBody>
          <a:bodyPr vert="horz" lIns="91440" tIns="45720" rIns="91440" bIns="45720" rtlCol="0" anchor="ctr"/>
          <a:lstStyle>
            <a:lvl1pPr algn="r">
              <a:defRPr sz="1000">
                <a:solidFill>
                  <a:schemeClr val="tx2"/>
                </a:solidFill>
              </a:defRPr>
            </a:lvl1pPr>
          </a:lstStyle>
          <a:p>
            <a:fld id="{F792E42C-ADF4-44CE-A45E-6D3F66BC2CD0}" type="datetimeFigureOut">
              <a:rPr lang="zh-CN" altLang="en-US" smtClean="0"/>
              <a:pPr/>
              <a:t>2020/12/25</a:t>
            </a:fld>
            <a:endParaRPr lang="zh-CN" altLang="en-US"/>
          </a:p>
        </p:txBody>
      </p:sp>
      <p:sp>
        <p:nvSpPr>
          <p:cNvPr id="5" name="Footer Placeholder 4"/>
          <p:cNvSpPr>
            <a:spLocks noGrp="1"/>
          </p:cNvSpPr>
          <p:nvPr>
            <p:ph type="ftr" sz="quarter" idx="3"/>
          </p:nvPr>
        </p:nvSpPr>
        <p:spPr>
          <a:xfrm>
            <a:off x="193638" y="6250164"/>
            <a:ext cx="3786691" cy="365125"/>
          </a:xfrm>
          <a:prstGeom prst="rect">
            <a:avLst/>
          </a:prstGeom>
        </p:spPr>
        <p:txBody>
          <a:bodyPr vert="horz" lIns="91440" tIns="45720" rIns="91440" bIns="45720" rtlCol="0" anchor="ctr"/>
          <a:lstStyle>
            <a:lvl1pPr algn="l">
              <a:defRPr sz="1000">
                <a:solidFill>
                  <a:schemeClr val="tx2"/>
                </a:solidFill>
              </a:defRPr>
            </a:lvl1pPr>
          </a:lstStyle>
          <a:p>
            <a:endParaRPr lang="zh-CN" altLang="en-US"/>
          </a:p>
        </p:txBody>
      </p:sp>
      <p:sp>
        <p:nvSpPr>
          <p:cNvPr id="6" name="Slide Number Placeholder 5"/>
          <p:cNvSpPr>
            <a:spLocks noGrp="1"/>
          </p:cNvSpPr>
          <p:nvPr>
            <p:ph type="sldNum" sz="quarter" idx="4"/>
          </p:nvPr>
        </p:nvSpPr>
        <p:spPr>
          <a:xfrm>
            <a:off x="3991088" y="6250163"/>
            <a:ext cx="1161826" cy="365125"/>
          </a:xfrm>
          <a:prstGeom prst="rect">
            <a:avLst/>
          </a:prstGeom>
        </p:spPr>
        <p:txBody>
          <a:bodyPr vert="horz" lIns="91440" tIns="45720" rIns="91440" bIns="45720" rtlCol="0" anchor="ctr"/>
          <a:lstStyle>
            <a:lvl1pPr algn="ctr">
              <a:defRPr sz="1000">
                <a:solidFill>
                  <a:schemeClr val="tx2"/>
                </a:solidFill>
              </a:defRPr>
            </a:lvl1pPr>
          </a:lstStyle>
          <a:p>
            <a:fld id="{5D21D60A-8614-4943-B5C4-FA06C970E4B9}" type="slidenum">
              <a:rPr lang="zh-CN" altLang="en-US" smtClean="0"/>
              <a:pPr/>
              <a:t>‹#›</a:t>
            </a:fld>
            <a:endParaRPr lang="zh-CN" altLang="en-US"/>
          </a:p>
        </p:txBody>
      </p:sp>
      <p:sp>
        <p:nvSpPr>
          <p:cNvPr id="3" name="Text Placeholder 2"/>
          <p:cNvSpPr>
            <a:spLocks noGrp="1"/>
          </p:cNvSpPr>
          <p:nvPr>
            <p:ph type="body" idx="1"/>
          </p:nvPr>
        </p:nvSpPr>
        <p:spPr>
          <a:xfrm>
            <a:off x="872067" y="2675467"/>
            <a:ext cx="7408333" cy="3450696"/>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4400" kern="1200">
          <a:solidFill>
            <a:srgbClr val="FFFFFF"/>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l" defTabSz="914400" rtl="0" eaLnBrk="1" latinLnBrk="0" hangingPunct="1">
        <a:spcBef>
          <a:spcPct val="20000"/>
        </a:spcBef>
        <a:buClr>
          <a:schemeClr val="accent1"/>
        </a:buClr>
        <a:buSzPct val="100000"/>
        <a:buFont typeface="Symbol" pitchFamily="18" charset="2"/>
        <a:buChar char=""/>
        <a:defRPr sz="2400" kern="1200">
          <a:solidFill>
            <a:schemeClr val="tx2"/>
          </a:solidFill>
          <a:latin typeface="+mn-lt"/>
          <a:ea typeface="+mn-ea"/>
          <a:cs typeface="+mn-cs"/>
        </a:defRPr>
      </a:lvl1pPr>
      <a:lvl2pPr marL="576263" indent="-274320" algn="l" defTabSz="914400" rtl="0" eaLnBrk="1" latinLnBrk="0" hangingPunct="1">
        <a:spcBef>
          <a:spcPct val="20000"/>
        </a:spcBef>
        <a:buClr>
          <a:schemeClr val="accent1"/>
        </a:buClr>
        <a:buSzPct val="100000"/>
        <a:buFont typeface="Symbol" pitchFamily="18" charset="2"/>
        <a:buChar char=""/>
        <a:defRPr sz="2200" kern="1200">
          <a:solidFill>
            <a:schemeClr val="tx2"/>
          </a:solidFill>
          <a:latin typeface="+mn-lt"/>
          <a:ea typeface="+mn-ea"/>
          <a:cs typeface="+mn-cs"/>
        </a:defRPr>
      </a:lvl2pPr>
      <a:lvl3pPr marL="855663" indent="-228600" algn="l" defTabSz="914400" rtl="0" eaLnBrk="1" latinLnBrk="0" hangingPunct="1">
        <a:spcBef>
          <a:spcPct val="20000"/>
        </a:spcBef>
        <a:buClr>
          <a:schemeClr val="accent1"/>
        </a:buClr>
        <a:buSzPct val="100000"/>
        <a:buFont typeface="Symbol" pitchFamily="18" charset="2"/>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SzPct val="100000"/>
        <a:buFont typeface="Symbol" pitchFamily="18" charset="2"/>
        <a:buChar char=""/>
        <a:defRPr sz="1800" kern="1200">
          <a:solidFill>
            <a:schemeClr val="tx2"/>
          </a:solidFill>
          <a:latin typeface="+mn-lt"/>
          <a:ea typeface="+mn-ea"/>
          <a:cs typeface="+mn-cs"/>
        </a:defRPr>
      </a:lvl4pPr>
      <a:lvl5pPr marL="1463040" indent="-228600" algn="l" defTabSz="914400" rtl="0" eaLnBrk="1" latinLnBrk="0" hangingPunct="1">
        <a:spcBef>
          <a:spcPct val="20000"/>
        </a:spcBef>
        <a:buClr>
          <a:schemeClr val="accent1"/>
        </a:buClr>
        <a:buSzPct val="100000"/>
        <a:buFont typeface="Symbol"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83568" y="1196752"/>
            <a:ext cx="7848872" cy="3539430"/>
          </a:xfrm>
          <a:prstGeom prst="rect">
            <a:avLst/>
          </a:prstGeom>
          <a:noFill/>
        </p:spPr>
        <p:txBody>
          <a:bodyPr wrap="square" rtlCol="0">
            <a:spAutoFit/>
          </a:bodyPr>
          <a:lstStyle/>
          <a:p>
            <a:r>
              <a:rPr lang="en-US" altLang="zh-CN" sz="3200" dirty="0" smtClean="0"/>
              <a:t>    </a:t>
            </a:r>
          </a:p>
          <a:p>
            <a:r>
              <a:rPr lang="en-US" altLang="zh-CN" sz="3200" dirty="0" smtClean="0"/>
              <a:t>Driverless Cars Could Make Transportation     </a:t>
            </a:r>
          </a:p>
          <a:p>
            <a:r>
              <a:rPr lang="en-US" altLang="zh-CN" sz="3200" dirty="0"/>
              <a:t> </a:t>
            </a:r>
            <a:r>
              <a:rPr lang="en-US" altLang="zh-CN" sz="3200" dirty="0" smtClean="0"/>
              <a:t>           Free for Everyone –with a Catch </a:t>
            </a:r>
          </a:p>
          <a:p>
            <a:r>
              <a:rPr lang="en-US" altLang="zh-CN" sz="3200" dirty="0"/>
              <a:t> </a:t>
            </a:r>
            <a:r>
              <a:rPr lang="en-US" altLang="zh-CN" sz="3200" dirty="0" smtClean="0"/>
              <a:t>                                                                                                                                              </a:t>
            </a:r>
          </a:p>
          <a:p>
            <a:r>
              <a:rPr lang="en-US" altLang="zh-CN" sz="3200" dirty="0"/>
              <a:t> </a:t>
            </a:r>
            <a:r>
              <a:rPr lang="en-US" altLang="zh-CN" sz="3200" dirty="0" smtClean="0"/>
              <a:t>                                                   </a:t>
            </a:r>
          </a:p>
          <a:p>
            <a:endParaRPr lang="en-US" altLang="zh-CN" sz="3200" dirty="0"/>
          </a:p>
          <a:p>
            <a:r>
              <a:rPr lang="en-US" altLang="zh-CN" sz="3200" dirty="0"/>
              <a:t> </a:t>
            </a:r>
            <a:r>
              <a:rPr lang="en-US" altLang="zh-CN" sz="3200" dirty="0" smtClean="0"/>
              <a:t>                                                   By Judith </a:t>
            </a:r>
            <a:r>
              <a:rPr lang="en-US" altLang="zh-CN" sz="3200" dirty="0" err="1" smtClean="0"/>
              <a:t>Donath</a:t>
            </a:r>
            <a:r>
              <a:rPr lang="en-US" altLang="zh-CN" sz="3200" dirty="0" smtClean="0"/>
              <a:t> </a:t>
            </a:r>
            <a:endParaRPr lang="zh-CN" altLang="en-US" sz="3200" dirty="0"/>
          </a:p>
        </p:txBody>
      </p:sp>
    </p:spTree>
    <p:extLst>
      <p:ext uri="{BB962C8B-B14F-4D97-AF65-F5344CB8AC3E}">
        <p14:creationId xmlns:p14="http://schemas.microsoft.com/office/powerpoint/2010/main" xmlns="" val="208245240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539552" y="1196752"/>
            <a:ext cx="8280920" cy="4308872"/>
          </a:xfrm>
          <a:prstGeom prst="rect">
            <a:avLst/>
          </a:prstGeom>
        </p:spPr>
        <p:txBody>
          <a:bodyPr wrap="square">
            <a:spAutoFit/>
          </a:bodyPr>
          <a:lstStyle/>
          <a:p>
            <a:r>
              <a:rPr lang="en-US" altLang="zh-CN" sz="3200" dirty="0" smtClean="0"/>
              <a:t>Warm-up questions:</a:t>
            </a:r>
            <a:endParaRPr lang="en-US" altLang="zh-CN" sz="3200" dirty="0"/>
          </a:p>
          <a:p>
            <a:pPr marL="342900" indent="-342900">
              <a:buAutoNum type="arabicPeriod"/>
            </a:pPr>
            <a:r>
              <a:rPr lang="en-US" altLang="zh-CN" sz="3200" dirty="0"/>
              <a:t>What do you know about self-driving vehicles?  </a:t>
            </a:r>
            <a:endParaRPr lang="en-US" altLang="zh-CN" sz="3200" dirty="0" smtClean="0"/>
          </a:p>
          <a:p>
            <a:pPr marL="342900" indent="-342900">
              <a:buAutoNum type="arabicPeriod"/>
            </a:pPr>
            <a:r>
              <a:rPr lang="en-US" altLang="zh-CN" sz="3200" dirty="0" smtClean="0"/>
              <a:t>What </a:t>
            </a:r>
            <a:r>
              <a:rPr lang="en-US" altLang="zh-CN" sz="3200" dirty="0"/>
              <a:t>impact do you see it may have on our life?</a:t>
            </a:r>
          </a:p>
          <a:p>
            <a:pPr marL="342900" indent="-342900">
              <a:buAutoNum type="arabicPeriod"/>
            </a:pPr>
            <a:r>
              <a:rPr lang="en-US" altLang="zh-CN" sz="3200" dirty="0"/>
              <a:t>How do you understand the title “Driverless Cars Could Make Transportation Free for  Everyone ---with a Catch</a:t>
            </a:r>
            <a:r>
              <a:rPr lang="en-US" altLang="zh-CN" sz="3200" dirty="0" smtClean="0"/>
              <a:t>?”</a:t>
            </a:r>
            <a:endParaRPr lang="en-US" altLang="zh-CN" sz="3200" dirty="0"/>
          </a:p>
          <a:p>
            <a:endParaRPr lang="zh-CN" altLang="en-US" dirty="0"/>
          </a:p>
        </p:txBody>
      </p:sp>
    </p:spTree>
    <p:extLst>
      <p:ext uri="{BB962C8B-B14F-4D97-AF65-F5344CB8AC3E}">
        <p14:creationId xmlns:p14="http://schemas.microsoft.com/office/powerpoint/2010/main" xmlns="" val="163938657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39552" y="1340768"/>
            <a:ext cx="8352928" cy="4893647"/>
          </a:xfrm>
          <a:prstGeom prst="rect">
            <a:avLst/>
          </a:prstGeom>
          <a:noFill/>
        </p:spPr>
        <p:txBody>
          <a:bodyPr wrap="square" rtlCol="0">
            <a:spAutoFit/>
          </a:bodyPr>
          <a:lstStyle/>
          <a:p>
            <a:r>
              <a:rPr lang="en-US" altLang="zh-CN" sz="2800" b="1" dirty="0" smtClean="0"/>
              <a:t>Scan the text and answer the following questions</a:t>
            </a:r>
            <a:r>
              <a:rPr lang="en-US" altLang="zh-CN" sz="2800" dirty="0" smtClean="0"/>
              <a:t>:</a:t>
            </a:r>
          </a:p>
          <a:p>
            <a:r>
              <a:rPr lang="en-US" altLang="zh-CN" sz="2800" dirty="0" smtClean="0"/>
              <a:t>1.  What are the hidden problems with driverless vehicles according to the author?</a:t>
            </a:r>
          </a:p>
          <a:p>
            <a:r>
              <a:rPr lang="en-US" altLang="zh-CN" sz="2400" i="1" dirty="0" smtClean="0"/>
              <a:t>Answer:</a:t>
            </a:r>
          </a:p>
          <a:p>
            <a:r>
              <a:rPr lang="en-US" altLang="zh-CN" sz="2400" i="1" dirty="0" smtClean="0"/>
              <a:t>Driverless vehicles provide free transportation to passengers, which in turn may result in unchecked consumption, more damage to the environment and even more health problem.</a:t>
            </a:r>
          </a:p>
          <a:p>
            <a:endParaRPr lang="en-US" altLang="zh-CN" sz="2800" dirty="0" smtClean="0"/>
          </a:p>
          <a:p>
            <a:r>
              <a:rPr lang="en-US" altLang="zh-CN" sz="2800" dirty="0" smtClean="0"/>
              <a:t>2.For the driverless vehicle system who would be the “driver”?</a:t>
            </a:r>
          </a:p>
          <a:p>
            <a:r>
              <a:rPr lang="en-US" altLang="zh-CN" sz="2400" i="1" dirty="0"/>
              <a:t>Answer:</a:t>
            </a:r>
          </a:p>
          <a:p>
            <a:r>
              <a:rPr lang="en-US" altLang="zh-CN" sz="2400" i="1" dirty="0"/>
              <a:t>The company that controls the algorithm</a:t>
            </a:r>
            <a:r>
              <a:rPr lang="en-US" altLang="zh-CN" sz="2400" i="1" dirty="0" smtClean="0"/>
              <a:t>.</a:t>
            </a:r>
            <a:endParaRPr lang="en-US" altLang="zh-CN" sz="2400" i="1" dirty="0"/>
          </a:p>
        </p:txBody>
      </p:sp>
    </p:spTree>
    <p:extLst>
      <p:ext uri="{BB962C8B-B14F-4D97-AF65-F5344CB8AC3E}">
        <p14:creationId xmlns:p14="http://schemas.microsoft.com/office/powerpoint/2010/main" xmlns="" val="4299039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99592" y="1772816"/>
            <a:ext cx="7560840" cy="584775"/>
          </a:xfrm>
          <a:prstGeom prst="rect">
            <a:avLst/>
          </a:prstGeom>
          <a:noFill/>
        </p:spPr>
        <p:txBody>
          <a:bodyPr wrap="square" rtlCol="0">
            <a:spAutoFit/>
          </a:bodyPr>
          <a:lstStyle/>
          <a:p>
            <a:r>
              <a:rPr lang="en-US" altLang="zh-CN" sz="3200" b="1" dirty="0" smtClean="0"/>
              <a:t>Structural Analysis &amp; </a:t>
            </a:r>
            <a:r>
              <a:rPr lang="en-US" altLang="zh-CN" sz="3200" b="1"/>
              <a:t>C</a:t>
            </a:r>
            <a:r>
              <a:rPr lang="en-US" altLang="zh-CN" sz="3200" b="1" smtClean="0"/>
              <a:t>ontent Discussion</a:t>
            </a:r>
            <a:endParaRPr lang="en-US" altLang="zh-CN" sz="3200" dirty="0" smtClean="0"/>
          </a:p>
        </p:txBody>
      </p:sp>
      <p:sp>
        <p:nvSpPr>
          <p:cNvPr id="3" name="TextBox 2"/>
          <p:cNvSpPr txBox="1"/>
          <p:nvPr/>
        </p:nvSpPr>
        <p:spPr>
          <a:xfrm>
            <a:off x="899592" y="3140968"/>
            <a:ext cx="7200800" cy="1815882"/>
          </a:xfrm>
          <a:prstGeom prst="rect">
            <a:avLst/>
          </a:prstGeom>
          <a:noFill/>
        </p:spPr>
        <p:txBody>
          <a:bodyPr wrap="square" rtlCol="0">
            <a:spAutoFit/>
          </a:bodyPr>
          <a:lstStyle/>
          <a:p>
            <a:r>
              <a:rPr lang="en-US" altLang="zh-CN" sz="2800" dirty="0" smtClean="0"/>
              <a:t>Para. 1</a:t>
            </a:r>
          </a:p>
          <a:p>
            <a:pPr algn="just"/>
            <a:r>
              <a:rPr lang="en-US" altLang="zh-CN" sz="2800" dirty="0" smtClean="0"/>
              <a:t>It presents predictions from journalists, futurists, economists and ethicists, serving as a backdrop to the author’s prognostications.</a:t>
            </a:r>
            <a:endParaRPr lang="zh-CN" altLang="en-US" sz="2800" dirty="0"/>
          </a:p>
        </p:txBody>
      </p:sp>
    </p:spTree>
    <p:extLst>
      <p:ext uri="{BB962C8B-B14F-4D97-AF65-F5344CB8AC3E}">
        <p14:creationId xmlns:p14="http://schemas.microsoft.com/office/powerpoint/2010/main" xmlns="" val="375668639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83568" y="1498306"/>
            <a:ext cx="7056784" cy="1815882"/>
          </a:xfrm>
          <a:prstGeom prst="rect">
            <a:avLst/>
          </a:prstGeom>
          <a:noFill/>
        </p:spPr>
        <p:txBody>
          <a:bodyPr wrap="square" rtlCol="0">
            <a:spAutoFit/>
          </a:bodyPr>
          <a:lstStyle/>
          <a:p>
            <a:r>
              <a:rPr lang="en-US" altLang="zh-CN" sz="2800" dirty="0" smtClean="0"/>
              <a:t>Para. 2--5</a:t>
            </a:r>
          </a:p>
          <a:p>
            <a:r>
              <a:rPr lang="en-US" altLang="zh-CN" sz="2800" dirty="0" smtClean="0"/>
              <a:t>The author’s predictions:  transportation  will become   free. </a:t>
            </a:r>
          </a:p>
          <a:p>
            <a:endParaRPr lang="zh-CN" altLang="en-US" sz="2800" dirty="0"/>
          </a:p>
        </p:txBody>
      </p:sp>
      <p:sp>
        <p:nvSpPr>
          <p:cNvPr id="6" name="下箭头 5"/>
          <p:cNvSpPr/>
          <p:nvPr/>
        </p:nvSpPr>
        <p:spPr>
          <a:xfrm>
            <a:off x="3969644" y="2490010"/>
            <a:ext cx="484632" cy="97840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TextBox 6"/>
          <p:cNvSpPr txBox="1"/>
          <p:nvPr/>
        </p:nvSpPr>
        <p:spPr>
          <a:xfrm>
            <a:off x="899592" y="3501008"/>
            <a:ext cx="6840760" cy="1384995"/>
          </a:xfrm>
          <a:prstGeom prst="rect">
            <a:avLst/>
          </a:prstGeom>
          <a:noFill/>
        </p:spPr>
        <p:txBody>
          <a:bodyPr wrap="square" rtlCol="0">
            <a:spAutoFit/>
          </a:bodyPr>
          <a:lstStyle/>
          <a:p>
            <a:r>
              <a:rPr lang="en-US" altLang="zh-CN" sz="2800" dirty="0" smtClean="0"/>
              <a:t>Unchecked consumption , customers being manipulated by businesses,  potential pitfall and inherent conflicts … </a:t>
            </a:r>
            <a:endParaRPr lang="zh-CN" altLang="en-US" sz="2800" dirty="0"/>
          </a:p>
        </p:txBody>
      </p:sp>
    </p:spTree>
    <p:extLst>
      <p:ext uri="{BB962C8B-B14F-4D97-AF65-F5344CB8AC3E}">
        <p14:creationId xmlns:p14="http://schemas.microsoft.com/office/powerpoint/2010/main" xmlns="" val="25711416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71600" y="1700808"/>
            <a:ext cx="7272808" cy="3970318"/>
          </a:xfrm>
          <a:prstGeom prst="rect">
            <a:avLst/>
          </a:prstGeom>
          <a:noFill/>
        </p:spPr>
        <p:txBody>
          <a:bodyPr wrap="square" rtlCol="0">
            <a:spAutoFit/>
          </a:bodyPr>
          <a:lstStyle/>
          <a:p>
            <a:r>
              <a:rPr lang="en-US" altLang="zh-CN" sz="2800" dirty="0" smtClean="0"/>
              <a:t>Para. 6—20 </a:t>
            </a:r>
          </a:p>
          <a:p>
            <a:pPr algn="just"/>
            <a:r>
              <a:rPr lang="en-US" altLang="zh-CN" sz="2800" dirty="0" smtClean="0"/>
              <a:t>Analyze how the system of driverless transportation works for the benefits of businesses through comparing it to the existing promoted rides, like </a:t>
            </a:r>
            <a:r>
              <a:rPr lang="en-US" altLang="zh-CN" sz="2800" dirty="0" err="1" smtClean="0"/>
              <a:t>UberFree</a:t>
            </a:r>
            <a:r>
              <a:rPr lang="en-US" altLang="zh-CN" sz="2800" dirty="0"/>
              <a:t>.</a:t>
            </a:r>
            <a:r>
              <a:rPr lang="en-US" altLang="zh-CN" sz="2800" dirty="0" smtClean="0"/>
              <a:t>  The author points out that the only difference, if there is any, is that the new hi-tech system is better at persuading people to buy. </a:t>
            </a:r>
          </a:p>
          <a:p>
            <a:endParaRPr lang="en-US" altLang="zh-CN" sz="2800" dirty="0" smtClean="0"/>
          </a:p>
        </p:txBody>
      </p:sp>
    </p:spTree>
    <p:extLst>
      <p:ext uri="{BB962C8B-B14F-4D97-AF65-F5344CB8AC3E}">
        <p14:creationId xmlns:p14="http://schemas.microsoft.com/office/powerpoint/2010/main" xmlns="" val="265915317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3568" y="1088152"/>
            <a:ext cx="8136904" cy="5509200"/>
          </a:xfrm>
          <a:prstGeom prst="rect">
            <a:avLst/>
          </a:prstGeom>
          <a:noFill/>
        </p:spPr>
        <p:txBody>
          <a:bodyPr wrap="square" rtlCol="0">
            <a:spAutoFit/>
          </a:bodyPr>
          <a:lstStyle/>
          <a:p>
            <a:pPr lvl="0" algn="just"/>
            <a:r>
              <a:rPr lang="en-US" altLang="zh-CN" sz="3200" b="1" dirty="0" smtClean="0"/>
              <a:t>Learning paraphrasing skill</a:t>
            </a:r>
          </a:p>
          <a:p>
            <a:pPr lvl="0" algn="just"/>
            <a:r>
              <a:rPr lang="en-US" altLang="zh-CN" sz="3200" dirty="0" smtClean="0"/>
              <a:t>Learning the skill of paraphrasing  (expressing the meaning of the literary text by using different words) is very important skill as it is instrumental for you to show your understanding of the original text. Furthermore, learning to paraphrase is a  preparatory and fundamental for summary writing. </a:t>
            </a:r>
          </a:p>
          <a:p>
            <a:pPr lvl="0"/>
            <a:r>
              <a:rPr lang="en-US" altLang="zh-CN" sz="3200" b="1" dirty="0" smtClean="0"/>
              <a:t>Now try to paraphrase some sentences from the text.</a:t>
            </a:r>
          </a:p>
        </p:txBody>
      </p:sp>
    </p:spTree>
    <p:extLst>
      <p:ext uri="{BB962C8B-B14F-4D97-AF65-F5344CB8AC3E}">
        <p14:creationId xmlns:p14="http://schemas.microsoft.com/office/powerpoint/2010/main" xmlns="" val="83328331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83568" y="620688"/>
            <a:ext cx="7704856" cy="369332"/>
          </a:xfrm>
          <a:prstGeom prst="rect">
            <a:avLst/>
          </a:prstGeom>
          <a:noFill/>
        </p:spPr>
        <p:txBody>
          <a:bodyPr wrap="square" rtlCol="0">
            <a:spAutoFit/>
          </a:bodyPr>
          <a:lstStyle/>
          <a:p>
            <a:endParaRPr lang="zh-CN" altLang="en-US" dirty="0"/>
          </a:p>
        </p:txBody>
      </p:sp>
      <p:sp>
        <p:nvSpPr>
          <p:cNvPr id="5" name="TextBox 4"/>
          <p:cNvSpPr txBox="1"/>
          <p:nvPr/>
        </p:nvSpPr>
        <p:spPr>
          <a:xfrm>
            <a:off x="835968" y="773088"/>
            <a:ext cx="7704856" cy="523220"/>
          </a:xfrm>
          <a:prstGeom prst="rect">
            <a:avLst/>
          </a:prstGeom>
          <a:noFill/>
        </p:spPr>
        <p:txBody>
          <a:bodyPr wrap="square" rtlCol="0">
            <a:spAutoFit/>
          </a:bodyPr>
          <a:lstStyle/>
          <a:p>
            <a:r>
              <a:rPr lang="en-US" altLang="zh-CN" sz="2800" dirty="0" smtClean="0"/>
              <a:t>Tasks</a:t>
            </a:r>
            <a:endParaRPr lang="zh-CN" altLang="en-US" sz="2800" dirty="0"/>
          </a:p>
        </p:txBody>
      </p:sp>
      <p:sp>
        <p:nvSpPr>
          <p:cNvPr id="6" name="TextBox 5"/>
          <p:cNvSpPr txBox="1"/>
          <p:nvPr/>
        </p:nvSpPr>
        <p:spPr>
          <a:xfrm>
            <a:off x="395536" y="773089"/>
            <a:ext cx="8145288" cy="5968280"/>
          </a:xfrm>
          <a:prstGeom prst="rect">
            <a:avLst/>
          </a:prstGeom>
          <a:noFill/>
        </p:spPr>
        <p:txBody>
          <a:bodyPr wrap="square" rtlCol="0">
            <a:spAutoFit/>
          </a:bodyPr>
          <a:lstStyle/>
          <a:p>
            <a:pPr lvl="0" algn="just"/>
            <a:endParaRPr lang="en-US" altLang="zh-CN" sz="3200" dirty="0" smtClean="0"/>
          </a:p>
          <a:p>
            <a:pPr lvl="0" algn="just"/>
            <a:r>
              <a:rPr lang="en-US" altLang="zh-CN" sz="3200" dirty="0" smtClean="0"/>
              <a:t>1. As </a:t>
            </a:r>
            <a:r>
              <a:rPr lang="en-US" altLang="zh-CN" sz="3200" dirty="0"/>
              <a:t>self-driving cars inch closer to everyday reality, journalists, futurists, economists, and ethicists have weighed in with numerous predictions about autonomous vehicles’ future impact</a:t>
            </a:r>
            <a:r>
              <a:rPr lang="en-US" altLang="zh-CN" sz="3200" dirty="0" smtClean="0"/>
              <a:t>. (</a:t>
            </a:r>
            <a:r>
              <a:rPr lang="en-US" altLang="zh-CN" sz="3200" dirty="0"/>
              <a:t>para.1)</a:t>
            </a:r>
            <a:endParaRPr lang="zh-CN" altLang="zh-CN" sz="3200" dirty="0"/>
          </a:p>
          <a:p>
            <a:pPr algn="just"/>
            <a:r>
              <a:rPr lang="en-US" altLang="zh-CN" sz="3200" b="1" dirty="0" smtClean="0"/>
              <a:t>The sentence can be understood as</a:t>
            </a:r>
            <a:r>
              <a:rPr lang="en-US" altLang="zh-CN" sz="3200" i="1" dirty="0" smtClean="0"/>
              <a:t>: </a:t>
            </a:r>
            <a:r>
              <a:rPr lang="en-US" altLang="zh-CN" sz="3200" i="1" dirty="0" smtClean="0">
                <a:solidFill>
                  <a:srgbClr val="090DB7"/>
                </a:solidFill>
              </a:rPr>
              <a:t>As </a:t>
            </a:r>
            <a:r>
              <a:rPr lang="en-US" altLang="zh-CN" sz="3200" i="1" dirty="0">
                <a:solidFill>
                  <a:srgbClr val="090DB7"/>
                </a:solidFill>
              </a:rPr>
              <a:t>auto-driving cars are coming into reality, journalists, futurists, economists and ethicists have considered the possible impact the </a:t>
            </a:r>
            <a:r>
              <a:rPr lang="en-US" altLang="zh-CN" sz="3200" i="1" dirty="0" smtClean="0">
                <a:solidFill>
                  <a:srgbClr val="090DB7"/>
                </a:solidFill>
              </a:rPr>
              <a:t>autonomous vehicles may have on our life in future.</a:t>
            </a:r>
            <a:endParaRPr lang="zh-CN" altLang="en-US" sz="3200" i="1" dirty="0">
              <a:solidFill>
                <a:srgbClr val="090DB7"/>
              </a:solidFill>
            </a:endParaRPr>
          </a:p>
        </p:txBody>
      </p:sp>
    </p:spTree>
    <p:extLst>
      <p:ext uri="{BB962C8B-B14F-4D97-AF65-F5344CB8AC3E}">
        <p14:creationId xmlns:p14="http://schemas.microsoft.com/office/powerpoint/2010/main" xmlns="" val="5374227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11560" y="1556792"/>
            <a:ext cx="7920880" cy="4524315"/>
          </a:xfrm>
          <a:prstGeom prst="rect">
            <a:avLst/>
          </a:prstGeom>
          <a:noFill/>
        </p:spPr>
        <p:txBody>
          <a:bodyPr wrap="square" rtlCol="0">
            <a:spAutoFit/>
          </a:bodyPr>
          <a:lstStyle/>
          <a:p>
            <a:pPr lvl="0"/>
            <a:r>
              <a:rPr lang="en-US" altLang="zh-CN" sz="3200" dirty="0" smtClean="0"/>
              <a:t>2. Summon </a:t>
            </a:r>
            <a:r>
              <a:rPr lang="en-US" altLang="zh-CN" sz="3200" dirty="0"/>
              <a:t>a car and travel for nothing—that is, so long as you are willing to stop en route at sponsoring locations.</a:t>
            </a:r>
            <a:endParaRPr lang="zh-CN" altLang="zh-CN" sz="3200" dirty="0"/>
          </a:p>
          <a:p>
            <a:endParaRPr lang="en-US" altLang="zh-CN" sz="3200" b="1" dirty="0" smtClean="0"/>
          </a:p>
          <a:p>
            <a:r>
              <a:rPr lang="en-US" altLang="zh-CN" sz="3200" b="1" dirty="0" smtClean="0"/>
              <a:t>The sentence could be understood as:</a:t>
            </a:r>
          </a:p>
          <a:p>
            <a:pPr algn="just"/>
            <a:r>
              <a:rPr lang="en-US" altLang="zh-CN" sz="3200" i="1" dirty="0" smtClean="0">
                <a:solidFill>
                  <a:srgbClr val="090DB7"/>
                </a:solidFill>
              </a:rPr>
              <a:t>Get </a:t>
            </a:r>
            <a:r>
              <a:rPr lang="en-US" altLang="zh-CN" sz="3200" i="1" dirty="0">
                <a:solidFill>
                  <a:srgbClr val="090DB7"/>
                </a:solidFill>
              </a:rPr>
              <a:t>a driverless car and travel for free---that means so long as you are willing to stop at the sponsoring shops you don’t have to pay for your travel</a:t>
            </a:r>
            <a:r>
              <a:rPr lang="en-US" altLang="zh-CN" sz="3200" dirty="0">
                <a:solidFill>
                  <a:srgbClr val="090DB7"/>
                </a:solidFill>
              </a:rPr>
              <a:t>.  </a:t>
            </a:r>
            <a:endParaRPr lang="zh-CN" altLang="zh-CN" sz="3200" dirty="0">
              <a:solidFill>
                <a:srgbClr val="090DB7"/>
              </a:solidFill>
            </a:endParaRPr>
          </a:p>
        </p:txBody>
      </p:sp>
    </p:spTree>
    <p:extLst>
      <p:ext uri="{BB962C8B-B14F-4D97-AF65-F5344CB8AC3E}">
        <p14:creationId xmlns:p14="http://schemas.microsoft.com/office/powerpoint/2010/main" xmlns="" val="32423467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3568" y="1772816"/>
            <a:ext cx="8064896" cy="4524315"/>
          </a:xfrm>
          <a:prstGeom prst="rect">
            <a:avLst/>
          </a:prstGeom>
          <a:noFill/>
        </p:spPr>
        <p:txBody>
          <a:bodyPr wrap="square" rtlCol="0">
            <a:spAutoFit/>
          </a:bodyPr>
          <a:lstStyle/>
          <a:p>
            <a:pPr lvl="0" algn="just"/>
            <a:r>
              <a:rPr lang="en-US" altLang="zh-CN" sz="3200" dirty="0" smtClean="0"/>
              <a:t>3.On </a:t>
            </a:r>
            <a:r>
              <a:rPr lang="en-US" altLang="zh-CN" sz="3200" dirty="0"/>
              <a:t>top of that, some clubs present customers who arrive in a cab with high cover charges to make up for the driver’s kickback.</a:t>
            </a:r>
            <a:endParaRPr lang="zh-CN" altLang="zh-CN" sz="3200" dirty="0"/>
          </a:p>
          <a:p>
            <a:pPr algn="just"/>
            <a:endParaRPr lang="en-US" altLang="zh-CN" sz="3200" b="1" dirty="0" smtClean="0"/>
          </a:p>
          <a:p>
            <a:pPr algn="just"/>
            <a:r>
              <a:rPr lang="en-US" altLang="zh-CN" sz="3200" b="1" dirty="0" smtClean="0"/>
              <a:t>It can be understood as: </a:t>
            </a:r>
          </a:p>
          <a:p>
            <a:pPr algn="just"/>
            <a:r>
              <a:rPr lang="en-US" altLang="zh-CN" sz="3200" i="1" dirty="0" smtClean="0">
                <a:solidFill>
                  <a:srgbClr val="090DB7"/>
                </a:solidFill>
              </a:rPr>
              <a:t>The </a:t>
            </a:r>
            <a:r>
              <a:rPr lang="en-US" altLang="zh-CN" sz="3200" i="1" dirty="0">
                <a:solidFill>
                  <a:srgbClr val="090DB7"/>
                </a:solidFill>
              </a:rPr>
              <a:t>most complaints are some clubs have customers who arrive in cab pay high service fees in order to compensate the driver’s kickback</a:t>
            </a:r>
            <a:r>
              <a:rPr lang="en-US" altLang="zh-CN" i="1" dirty="0">
                <a:solidFill>
                  <a:srgbClr val="090DB7"/>
                </a:solidFill>
              </a:rPr>
              <a:t>.</a:t>
            </a:r>
            <a:endParaRPr lang="zh-CN" altLang="zh-CN" i="1" dirty="0">
              <a:solidFill>
                <a:srgbClr val="090DB7"/>
              </a:solidFill>
            </a:endParaRPr>
          </a:p>
        </p:txBody>
      </p:sp>
    </p:spTree>
    <p:extLst>
      <p:ext uri="{BB962C8B-B14F-4D97-AF65-F5344CB8AC3E}">
        <p14:creationId xmlns:p14="http://schemas.microsoft.com/office/powerpoint/2010/main" xmlns="" val="3653283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95536" y="811733"/>
            <a:ext cx="8280920" cy="6001643"/>
          </a:xfrm>
          <a:prstGeom prst="rect">
            <a:avLst/>
          </a:prstGeom>
          <a:noFill/>
        </p:spPr>
        <p:txBody>
          <a:bodyPr wrap="square" rtlCol="0">
            <a:spAutoFit/>
          </a:bodyPr>
          <a:lstStyle/>
          <a:p>
            <a:pPr lvl="0" algn="just"/>
            <a:r>
              <a:rPr lang="en-US" altLang="zh-CN" sz="3200" dirty="0" smtClean="0"/>
              <a:t>4. Payments </a:t>
            </a:r>
            <a:r>
              <a:rPr lang="en-US" altLang="zh-CN" sz="3200" dirty="0"/>
              <a:t>(whether kickbacks or sponsorships) from a business to a driver (whether human or algorithmic) in return for redirecting people are a way for businesses to align the drivers’ incentives with their own</a:t>
            </a:r>
            <a:r>
              <a:rPr lang="en-US" altLang="zh-CN" sz="3200" dirty="0" smtClean="0"/>
              <a:t>. (Para.14)</a:t>
            </a:r>
          </a:p>
          <a:p>
            <a:pPr lvl="0" algn="just"/>
            <a:r>
              <a:rPr lang="en-US" altLang="zh-CN" sz="3200" b="1" dirty="0" smtClean="0"/>
              <a:t>It could be understood as:</a:t>
            </a:r>
            <a:endParaRPr lang="zh-CN" altLang="zh-CN" sz="3200" b="1" dirty="0"/>
          </a:p>
          <a:p>
            <a:pPr algn="just"/>
            <a:r>
              <a:rPr lang="en-US" altLang="zh-CN" sz="3200" i="1" dirty="0">
                <a:solidFill>
                  <a:srgbClr val="090DB7"/>
                </a:solidFill>
              </a:rPr>
              <a:t>Business pay drivers (whether in the form of kickbacks or sponsorships), in return the drivers will take more customers to the sponsorship shops. In this way the interests of both business and drivers are allied</a:t>
            </a:r>
            <a:r>
              <a:rPr lang="en-US" altLang="zh-CN" sz="3200" dirty="0">
                <a:solidFill>
                  <a:srgbClr val="090DB7"/>
                </a:solidFill>
              </a:rPr>
              <a:t>. </a:t>
            </a:r>
            <a:endParaRPr lang="zh-CN" altLang="zh-CN" sz="3200" dirty="0">
              <a:solidFill>
                <a:srgbClr val="090DB7"/>
              </a:solidFill>
            </a:endParaRPr>
          </a:p>
        </p:txBody>
      </p:sp>
    </p:spTree>
    <p:extLst>
      <p:ext uri="{BB962C8B-B14F-4D97-AF65-F5344CB8AC3E}">
        <p14:creationId xmlns:p14="http://schemas.microsoft.com/office/powerpoint/2010/main" xmlns="" val="30604051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8477" y="1484784"/>
            <a:ext cx="7344816" cy="2246769"/>
          </a:xfrm>
          <a:prstGeom prst="rect">
            <a:avLst/>
          </a:prstGeom>
          <a:noFill/>
        </p:spPr>
        <p:txBody>
          <a:bodyPr wrap="square" rtlCol="0">
            <a:spAutoFit/>
          </a:bodyPr>
          <a:lstStyle/>
          <a:p>
            <a:pPr algn="just"/>
            <a:r>
              <a:rPr lang="en-US" altLang="zh-CN" sz="2800" b="1" dirty="0" smtClean="0"/>
              <a:t>Getting the main idea of a paragraph</a:t>
            </a:r>
          </a:p>
          <a:p>
            <a:pPr algn="just"/>
            <a:r>
              <a:rPr lang="en-US" altLang="zh-CN" sz="2800" dirty="0" smtClean="0"/>
              <a:t>Getting  the main point of a paragraph is one of the most challenging tasks in reading activity. Yet, compared with  writing the main idea, recognizing it is less challenging .</a:t>
            </a:r>
          </a:p>
        </p:txBody>
      </p:sp>
      <p:sp>
        <p:nvSpPr>
          <p:cNvPr id="3" name="TextBox 2"/>
          <p:cNvSpPr txBox="1"/>
          <p:nvPr/>
        </p:nvSpPr>
        <p:spPr>
          <a:xfrm>
            <a:off x="648477" y="4005064"/>
            <a:ext cx="7920880" cy="1661993"/>
          </a:xfrm>
          <a:prstGeom prst="rect">
            <a:avLst/>
          </a:prstGeom>
          <a:noFill/>
        </p:spPr>
        <p:txBody>
          <a:bodyPr wrap="square" rtlCol="0">
            <a:spAutoFit/>
          </a:bodyPr>
          <a:lstStyle/>
          <a:p>
            <a:pPr algn="just"/>
            <a:r>
              <a:rPr lang="en-US" altLang="zh-CN" sz="2800" b="1" dirty="0" smtClean="0"/>
              <a:t>Now work in group and  match </a:t>
            </a:r>
            <a:r>
              <a:rPr lang="en-US" altLang="zh-CN" sz="2800" b="1" dirty="0"/>
              <a:t>the </a:t>
            </a:r>
            <a:r>
              <a:rPr lang="en-US" altLang="zh-CN" sz="2800" b="1" dirty="0" smtClean="0"/>
              <a:t>summary sentence </a:t>
            </a:r>
            <a:r>
              <a:rPr lang="en-US" altLang="zh-CN" sz="2800" b="1" dirty="0"/>
              <a:t>with its corresponding paragraph based on your comprehension</a:t>
            </a:r>
            <a:r>
              <a:rPr lang="en-US" altLang="zh-CN" b="1" dirty="0"/>
              <a:t>. </a:t>
            </a:r>
            <a:endParaRPr lang="zh-CN" altLang="zh-CN" b="1" dirty="0"/>
          </a:p>
          <a:p>
            <a:pPr algn="just"/>
            <a:r>
              <a:rPr lang="en-US" altLang="zh-CN" b="1" dirty="0"/>
              <a:t> </a:t>
            </a:r>
            <a:endParaRPr lang="zh-CN" altLang="zh-CN" b="1" dirty="0"/>
          </a:p>
        </p:txBody>
      </p:sp>
    </p:spTree>
    <p:extLst>
      <p:ext uri="{BB962C8B-B14F-4D97-AF65-F5344CB8AC3E}">
        <p14:creationId xmlns:p14="http://schemas.microsoft.com/office/powerpoint/2010/main" xmlns="" val="177301979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55576" y="1196752"/>
            <a:ext cx="7920880" cy="5262979"/>
          </a:xfrm>
          <a:prstGeom prst="rect">
            <a:avLst/>
          </a:prstGeom>
          <a:noFill/>
        </p:spPr>
        <p:txBody>
          <a:bodyPr wrap="square" rtlCol="0">
            <a:spAutoFit/>
          </a:bodyPr>
          <a:lstStyle/>
          <a:p>
            <a:r>
              <a:rPr lang="en-US" altLang="zh-CN" sz="2800" dirty="0"/>
              <a:t>1.___</a:t>
            </a:r>
            <a:r>
              <a:rPr lang="en-US" altLang="zh-CN" sz="2800" i="1" dirty="0">
                <a:solidFill>
                  <a:srgbClr val="00B0F0"/>
                </a:solidFill>
              </a:rPr>
              <a:t>para._3</a:t>
            </a:r>
            <a:r>
              <a:rPr lang="en-US" altLang="zh-CN" sz="2800" dirty="0"/>
              <a:t>______Routes and relevant stops are tailored based on riders’ personal data.</a:t>
            </a:r>
            <a:endParaRPr lang="zh-CN" altLang="zh-CN" sz="2800" dirty="0"/>
          </a:p>
          <a:p>
            <a:r>
              <a:rPr lang="en-US" altLang="zh-CN" sz="2800" dirty="0"/>
              <a:t>2. ___</a:t>
            </a:r>
            <a:r>
              <a:rPr lang="en-US" altLang="zh-CN" sz="2800" i="1" dirty="0">
                <a:solidFill>
                  <a:srgbClr val="00B0F0"/>
                </a:solidFill>
              </a:rPr>
              <a:t>para.1</a:t>
            </a:r>
            <a:r>
              <a:rPr lang="en-US" altLang="zh-CN" sz="2800" dirty="0"/>
              <a:t>_____With the emergence of autonomous autos, people have made predictions about the impact these vehicles will make on people’s life</a:t>
            </a:r>
            <a:r>
              <a:rPr lang="en-US" altLang="zh-CN" sz="2800" i="1" dirty="0"/>
              <a:t>. </a:t>
            </a:r>
            <a:endParaRPr lang="zh-CN" altLang="zh-CN" sz="2800" dirty="0"/>
          </a:p>
          <a:p>
            <a:r>
              <a:rPr lang="en-US" altLang="zh-CN" sz="2800" dirty="0"/>
              <a:t>3. ___</a:t>
            </a:r>
            <a:r>
              <a:rPr lang="en-US" altLang="zh-CN" sz="2800" i="1" dirty="0">
                <a:solidFill>
                  <a:srgbClr val="00B0F0"/>
                </a:solidFill>
              </a:rPr>
              <a:t>para._4</a:t>
            </a:r>
            <a:r>
              <a:rPr lang="en-US" altLang="zh-CN" sz="2800" dirty="0"/>
              <a:t>_____More examples of riders tailored transportation services.</a:t>
            </a:r>
            <a:endParaRPr lang="zh-CN" altLang="zh-CN" sz="2800" dirty="0"/>
          </a:p>
          <a:p>
            <a:r>
              <a:rPr lang="en-US" altLang="zh-CN" sz="2800" dirty="0"/>
              <a:t>4._____</a:t>
            </a:r>
            <a:r>
              <a:rPr lang="en-US" altLang="zh-CN" sz="2800" i="1" dirty="0">
                <a:solidFill>
                  <a:srgbClr val="00B0F0"/>
                </a:solidFill>
              </a:rPr>
              <a:t>para.2</a:t>
            </a:r>
            <a:r>
              <a:rPr lang="en-US" altLang="zh-CN" sz="2800" dirty="0"/>
              <a:t>_____ According to the author, riders won’t need to pay in a world full of self-driving cars if the riders are willing to stop at shops on the route.</a:t>
            </a:r>
            <a:endParaRPr lang="zh-CN" altLang="zh-CN" sz="2800" dirty="0"/>
          </a:p>
        </p:txBody>
      </p:sp>
    </p:spTree>
    <p:extLst>
      <p:ext uri="{BB962C8B-B14F-4D97-AF65-F5344CB8AC3E}">
        <p14:creationId xmlns:p14="http://schemas.microsoft.com/office/powerpoint/2010/main" xmlns="" val="233837104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3568" y="1628800"/>
            <a:ext cx="7848872" cy="4401205"/>
          </a:xfrm>
          <a:prstGeom prst="rect">
            <a:avLst/>
          </a:prstGeom>
          <a:noFill/>
        </p:spPr>
        <p:txBody>
          <a:bodyPr wrap="square" rtlCol="0">
            <a:spAutoFit/>
          </a:bodyPr>
          <a:lstStyle/>
          <a:p>
            <a:r>
              <a:rPr lang="en-US" altLang="zh-CN" sz="2800" dirty="0"/>
              <a:t>5.____</a:t>
            </a:r>
            <a:r>
              <a:rPr lang="en-US" altLang="zh-CN" sz="2800" i="1" dirty="0">
                <a:solidFill>
                  <a:srgbClr val="00B0F0"/>
                </a:solidFill>
              </a:rPr>
              <a:t>para._5</a:t>
            </a:r>
            <a:r>
              <a:rPr lang="en-US" altLang="zh-CN" sz="2800" dirty="0"/>
              <a:t>____ The rides with relevant stops at sponsored locations will appeal to both passengers and marketers.</a:t>
            </a:r>
            <a:endParaRPr lang="zh-CN" altLang="zh-CN" sz="2800" dirty="0"/>
          </a:p>
          <a:p>
            <a:r>
              <a:rPr lang="en-US" altLang="zh-CN" sz="2800" dirty="0" smtClean="0"/>
              <a:t>6. </a:t>
            </a:r>
            <a:r>
              <a:rPr lang="en-US" altLang="zh-CN" sz="2800" dirty="0"/>
              <a:t>____</a:t>
            </a:r>
            <a:r>
              <a:rPr lang="en-US" altLang="zh-CN" sz="2800" i="1" dirty="0">
                <a:solidFill>
                  <a:srgbClr val="00B0F0"/>
                </a:solidFill>
              </a:rPr>
              <a:t>para.13_</a:t>
            </a:r>
            <a:r>
              <a:rPr lang="en-US" altLang="zh-CN" sz="2800" i="1" dirty="0"/>
              <a:t>____</a:t>
            </a:r>
            <a:r>
              <a:rPr lang="en-US" altLang="zh-CN" sz="2800" dirty="0"/>
              <a:t>Cities may have more control once these algorithms are routing autonomous cars.</a:t>
            </a:r>
            <a:endParaRPr lang="zh-CN" altLang="zh-CN" sz="2800" dirty="0"/>
          </a:p>
          <a:p>
            <a:r>
              <a:rPr lang="en-US" altLang="zh-CN" sz="2800" dirty="0"/>
              <a:t>7. ____</a:t>
            </a:r>
            <a:r>
              <a:rPr lang="en-US" altLang="zh-CN" sz="2800" i="1" dirty="0">
                <a:solidFill>
                  <a:srgbClr val="00B0F0"/>
                </a:solidFill>
              </a:rPr>
              <a:t>para.6</a:t>
            </a:r>
            <a:r>
              <a:rPr lang="en-US" altLang="zh-CN" sz="2800" dirty="0"/>
              <a:t>_____People concern such free transportation with relevant stops at shops lead people to consume </a:t>
            </a:r>
            <a:r>
              <a:rPr lang="en-US" altLang="zh-CN" sz="2800" dirty="0" err="1"/>
              <a:t>unrationally</a:t>
            </a:r>
            <a:r>
              <a:rPr lang="en-US" altLang="zh-CN" sz="2800" dirty="0"/>
              <a:t>, which in turn will cause problems to individuals even to the society.</a:t>
            </a:r>
            <a:endParaRPr lang="zh-CN" altLang="zh-CN" sz="2800" dirty="0"/>
          </a:p>
        </p:txBody>
      </p:sp>
    </p:spTree>
    <p:extLst>
      <p:ext uri="{BB962C8B-B14F-4D97-AF65-F5344CB8AC3E}">
        <p14:creationId xmlns:p14="http://schemas.microsoft.com/office/powerpoint/2010/main" xmlns="" val="180532031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755576" y="1988840"/>
            <a:ext cx="7992888" cy="3539430"/>
          </a:xfrm>
          <a:prstGeom prst="rect">
            <a:avLst/>
          </a:prstGeom>
        </p:spPr>
        <p:txBody>
          <a:bodyPr wrap="square">
            <a:spAutoFit/>
          </a:bodyPr>
          <a:lstStyle/>
          <a:p>
            <a:r>
              <a:rPr lang="en-US" altLang="zh-CN" sz="2800" dirty="0"/>
              <a:t>8. ____</a:t>
            </a:r>
            <a:r>
              <a:rPr lang="en-US" altLang="zh-CN" sz="2800" i="1" dirty="0">
                <a:solidFill>
                  <a:srgbClr val="00B0F0"/>
                </a:solidFill>
              </a:rPr>
              <a:t>para.7</a:t>
            </a:r>
            <a:r>
              <a:rPr lang="en-US" altLang="zh-CN" sz="2800" dirty="0"/>
              <a:t>_____There are potential pitfalls of this transportation arrangement that are obvious in the present promoted ride.</a:t>
            </a:r>
            <a:endParaRPr lang="zh-CN" altLang="zh-CN" sz="2800" dirty="0"/>
          </a:p>
          <a:p>
            <a:r>
              <a:rPr lang="en-US" altLang="zh-CN" sz="2800" dirty="0"/>
              <a:t>9. ____</a:t>
            </a:r>
            <a:r>
              <a:rPr lang="en-US" altLang="zh-CN" sz="2800" i="1" dirty="0">
                <a:solidFill>
                  <a:srgbClr val="00B0F0"/>
                </a:solidFill>
              </a:rPr>
              <a:t>para.17</a:t>
            </a:r>
            <a:r>
              <a:rPr lang="en-US" altLang="zh-CN" sz="2800" dirty="0"/>
              <a:t>_____With the intense technical development, the system supporting autonomous cars will work in a more human-like way.</a:t>
            </a:r>
            <a:endParaRPr lang="zh-CN" altLang="zh-CN" sz="2800" dirty="0"/>
          </a:p>
          <a:p>
            <a:r>
              <a:rPr lang="en-US" altLang="zh-CN" sz="2800" dirty="0"/>
              <a:t>10. ___</a:t>
            </a:r>
            <a:r>
              <a:rPr lang="en-US" altLang="zh-CN" sz="2800" dirty="0">
                <a:solidFill>
                  <a:srgbClr val="00B0F0"/>
                </a:solidFill>
              </a:rPr>
              <a:t>para.10</a:t>
            </a:r>
            <a:r>
              <a:rPr lang="en-US" altLang="zh-CN" sz="2800" dirty="0"/>
              <a:t>_____Under this system, divers get benefit at the passenger’s expense</a:t>
            </a:r>
            <a:r>
              <a:rPr lang="en-US" altLang="zh-CN" dirty="0"/>
              <a:t>.</a:t>
            </a:r>
            <a:endParaRPr lang="zh-CN" altLang="zh-CN" dirty="0"/>
          </a:p>
        </p:txBody>
      </p:sp>
    </p:spTree>
    <p:extLst>
      <p:ext uri="{BB962C8B-B14F-4D97-AF65-F5344CB8AC3E}">
        <p14:creationId xmlns:p14="http://schemas.microsoft.com/office/powerpoint/2010/main" xmlns="" val="245163775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683568" y="2492896"/>
            <a:ext cx="7416824" cy="2677656"/>
          </a:xfrm>
          <a:prstGeom prst="rect">
            <a:avLst/>
          </a:prstGeom>
        </p:spPr>
        <p:txBody>
          <a:bodyPr wrap="square">
            <a:spAutoFit/>
          </a:bodyPr>
          <a:lstStyle/>
          <a:p>
            <a:r>
              <a:rPr lang="en-US" altLang="zh-CN" sz="2800" dirty="0"/>
              <a:t>11. ___</a:t>
            </a:r>
            <a:r>
              <a:rPr lang="en-US" altLang="zh-CN" sz="2800" dirty="0">
                <a:solidFill>
                  <a:srgbClr val="00B0F0"/>
                </a:solidFill>
              </a:rPr>
              <a:t>para._18</a:t>
            </a:r>
            <a:r>
              <a:rPr lang="en-US" altLang="zh-CN" sz="2800" dirty="0"/>
              <a:t>____Autonomous cars will be part of an ecosystem of intelligent agents and personal-data vendors.</a:t>
            </a:r>
            <a:endParaRPr lang="zh-CN" altLang="zh-CN" sz="2800" dirty="0"/>
          </a:p>
          <a:p>
            <a:r>
              <a:rPr lang="en-US" altLang="zh-CN" sz="2800" dirty="0"/>
              <a:t>12. ____</a:t>
            </a:r>
            <a:r>
              <a:rPr lang="en-US" altLang="zh-CN" sz="2800" dirty="0">
                <a:solidFill>
                  <a:srgbClr val="00B0F0"/>
                </a:solidFill>
              </a:rPr>
              <a:t>para.16</a:t>
            </a:r>
            <a:r>
              <a:rPr lang="en-US" altLang="zh-CN" sz="2800" dirty="0"/>
              <a:t>_____There are a few reasons why we do not have widespread sponsored rides today.</a:t>
            </a:r>
            <a:endParaRPr lang="zh-CN" altLang="zh-CN" sz="2800" dirty="0"/>
          </a:p>
        </p:txBody>
      </p:sp>
    </p:spTree>
    <p:extLst>
      <p:ext uri="{BB962C8B-B14F-4D97-AF65-F5344CB8AC3E}">
        <p14:creationId xmlns:p14="http://schemas.microsoft.com/office/powerpoint/2010/main" xmlns="" val="74197792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pPr algn="ctr"/>
            <a:r>
              <a:rPr lang="en-US" altLang="zh-CN" dirty="0" smtClean="0"/>
              <a:t>Drill</a:t>
            </a:r>
            <a:br>
              <a:rPr lang="en-US" altLang="zh-CN" dirty="0" smtClean="0"/>
            </a:br>
            <a:r>
              <a:rPr lang="en-US" altLang="zh-CN" dirty="0" smtClean="0"/>
              <a:t>Read and Summarize </a:t>
            </a:r>
            <a:endParaRPr lang="zh-CN" altLang="en-US" dirty="0"/>
          </a:p>
        </p:txBody>
      </p:sp>
      <p:sp>
        <p:nvSpPr>
          <p:cNvPr id="3" name="副标题 2"/>
          <p:cNvSpPr>
            <a:spLocks noGrp="1"/>
          </p:cNvSpPr>
          <p:nvPr>
            <p:ph type="subTitle" idx="1"/>
          </p:nvPr>
        </p:nvSpPr>
        <p:spPr/>
        <p:txBody>
          <a:bodyPr/>
          <a:lstStyle/>
          <a:p>
            <a:endParaRPr lang="zh-CN" altLang="en-US"/>
          </a:p>
        </p:txBody>
      </p:sp>
    </p:spTree>
    <p:extLst>
      <p:ext uri="{BB962C8B-B14F-4D97-AF65-F5344CB8AC3E}">
        <p14:creationId xmlns:p14="http://schemas.microsoft.com/office/powerpoint/2010/main" xmlns="" val="295089653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844615" y="692696"/>
            <a:ext cx="7088446" cy="5391150"/>
          </a:xfrm>
          <a:prstGeom prst="rect">
            <a:avLst/>
          </a:prstGeom>
        </p:spPr>
      </p:pic>
    </p:spTree>
    <p:extLst>
      <p:ext uri="{BB962C8B-B14F-4D97-AF65-F5344CB8AC3E}">
        <p14:creationId xmlns:p14="http://schemas.microsoft.com/office/powerpoint/2010/main" xmlns="" val="3496027102"/>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574514" y="620688"/>
            <a:ext cx="7616830" cy="5544616"/>
          </a:xfrm>
          <a:prstGeom prst="rect">
            <a:avLst/>
          </a:prstGeom>
        </p:spPr>
      </p:pic>
    </p:spTree>
    <p:extLst>
      <p:ext uri="{BB962C8B-B14F-4D97-AF65-F5344CB8AC3E}">
        <p14:creationId xmlns:p14="http://schemas.microsoft.com/office/powerpoint/2010/main" xmlns="" val="741694258"/>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Key features of a summary</a:t>
            </a:r>
            <a:endParaRPr lang="zh-CN" altLang="en-US" dirty="0"/>
          </a:p>
        </p:txBody>
      </p:sp>
      <p:sp>
        <p:nvSpPr>
          <p:cNvPr id="3" name="内容占位符 2"/>
          <p:cNvSpPr>
            <a:spLocks noGrp="1"/>
          </p:cNvSpPr>
          <p:nvPr>
            <p:ph idx="1"/>
          </p:nvPr>
        </p:nvSpPr>
        <p:spPr/>
        <p:txBody>
          <a:bodyPr>
            <a:normAutofit/>
          </a:bodyPr>
          <a:lstStyle/>
          <a:p>
            <a:r>
              <a:rPr lang="en-US" altLang="zh-CN" sz="3200" dirty="0" smtClean="0"/>
              <a:t>It is shorter than the source.</a:t>
            </a:r>
          </a:p>
          <a:p>
            <a:r>
              <a:rPr lang="en-US" altLang="zh-CN" sz="3200" dirty="0" smtClean="0"/>
              <a:t>It repeats the ideas of the source in different phrases and sentences. </a:t>
            </a:r>
            <a:endParaRPr lang="zh-CN" altLang="en-US" sz="3200" dirty="0"/>
          </a:p>
        </p:txBody>
      </p:sp>
    </p:spTree>
    <p:extLst>
      <p:ext uri="{BB962C8B-B14F-4D97-AF65-F5344CB8AC3E}">
        <p14:creationId xmlns:p14="http://schemas.microsoft.com/office/powerpoint/2010/main" xmlns="" val="197251735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71472" y="357166"/>
            <a:ext cx="2306375" cy="4601183"/>
          </a:xfrm>
        </p:spPr>
        <p:txBody>
          <a:bodyPr>
            <a:normAutofit fontScale="90000"/>
          </a:bodyPr>
          <a:lstStyle/>
          <a:p>
            <a:r>
              <a:rPr lang="en-US" altLang="zh-CN" b="1" dirty="0"/>
              <a:t>Tips </a:t>
            </a:r>
            <a:r>
              <a:rPr lang="en-US" altLang="zh-CN" b="1" dirty="0" smtClean="0"/>
              <a:t>&amp; </a:t>
            </a:r>
            <a:r>
              <a:rPr lang="en-US" altLang="zh-CN" b="1" dirty="0"/>
              <a:t>Tricks: </a:t>
            </a:r>
            <a:r>
              <a:rPr lang="en-US" altLang="zh-CN" b="1" dirty="0" smtClean="0"/>
              <a:t>Guidelines for Summarizing</a:t>
            </a:r>
            <a:r>
              <a:rPr lang="en-US" altLang="zh-CN" b="1" dirty="0"/>
              <a:t/>
            </a:r>
            <a:br>
              <a:rPr lang="en-US" altLang="zh-CN" b="1" dirty="0"/>
            </a:br>
            <a:endParaRPr lang="zh-CN" altLang="en-US" dirty="0"/>
          </a:p>
        </p:txBody>
      </p:sp>
      <p:sp>
        <p:nvSpPr>
          <p:cNvPr id="3" name="内容占位符 2"/>
          <p:cNvSpPr>
            <a:spLocks noGrp="1"/>
          </p:cNvSpPr>
          <p:nvPr>
            <p:ph idx="1"/>
          </p:nvPr>
        </p:nvSpPr>
        <p:spPr>
          <a:xfrm>
            <a:off x="857224" y="2500306"/>
            <a:ext cx="7408333" cy="3450696"/>
          </a:xfrm>
        </p:spPr>
        <p:txBody>
          <a:bodyPr>
            <a:normAutofit lnSpcReduction="10000"/>
          </a:bodyPr>
          <a:lstStyle/>
          <a:p>
            <a:r>
              <a:rPr lang="en-US" altLang="zh-CN" sz="2800" dirty="0" smtClean="0"/>
              <a:t>Try creating </a:t>
            </a:r>
            <a:r>
              <a:rPr lang="en-US" altLang="zh-CN" sz="2800" b="1" dirty="0"/>
              <a:t>two columns</a:t>
            </a:r>
            <a:r>
              <a:rPr lang="en-US" altLang="zh-CN" sz="2800" dirty="0"/>
              <a:t> on a piece of paper: </a:t>
            </a:r>
            <a:r>
              <a:rPr lang="en-US" altLang="zh-CN" sz="2800" dirty="0" smtClean="0"/>
              <a:t>one </a:t>
            </a:r>
            <a:r>
              <a:rPr lang="en-US" altLang="zh-CN" sz="2800" dirty="0"/>
              <a:t>for important information, and one for trivial information.</a:t>
            </a:r>
          </a:p>
          <a:p>
            <a:r>
              <a:rPr lang="en-US" altLang="zh-CN" sz="2800" dirty="0"/>
              <a:t>Organize your thoughts on this page, and try to only include important information in your summary</a:t>
            </a:r>
            <a:r>
              <a:rPr lang="en-US" altLang="zh-CN" sz="2800" dirty="0" smtClean="0"/>
              <a:t>.</a:t>
            </a:r>
          </a:p>
          <a:p>
            <a:r>
              <a:rPr lang="en-US" altLang="zh-CN" sz="2800" dirty="0" smtClean="0"/>
              <a:t>The </a:t>
            </a:r>
            <a:r>
              <a:rPr lang="en-US" altLang="zh-CN" sz="2800" dirty="0"/>
              <a:t>best summaries are usually only a paragraph </a:t>
            </a:r>
            <a:r>
              <a:rPr lang="en-US" altLang="zh-CN" sz="2800" dirty="0" smtClean="0"/>
              <a:t>long, clear and to the point. </a:t>
            </a:r>
            <a:r>
              <a:rPr lang="en-US" altLang="zh-CN" dirty="0"/>
              <a:t> </a:t>
            </a:r>
          </a:p>
        </p:txBody>
      </p:sp>
    </p:spTree>
    <p:extLst>
      <p:ext uri="{BB962C8B-B14F-4D97-AF65-F5344CB8AC3E}">
        <p14:creationId xmlns:p14="http://schemas.microsoft.com/office/powerpoint/2010/main" xmlns="" val="173304645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Summary Format</a:t>
            </a:r>
            <a:endParaRPr lang="zh-CN" altLang="en-US" dirty="0"/>
          </a:p>
        </p:txBody>
      </p:sp>
      <p:sp>
        <p:nvSpPr>
          <p:cNvPr id="3" name="内容占位符 2"/>
          <p:cNvSpPr>
            <a:spLocks noGrp="1"/>
          </p:cNvSpPr>
          <p:nvPr>
            <p:ph idx="1"/>
          </p:nvPr>
        </p:nvSpPr>
        <p:spPr>
          <a:xfrm>
            <a:off x="1428728" y="1571612"/>
            <a:ext cx="5486400" cy="5120640"/>
          </a:xfrm>
        </p:spPr>
        <p:txBody>
          <a:bodyPr>
            <a:normAutofit fontScale="85000" lnSpcReduction="20000"/>
          </a:bodyPr>
          <a:lstStyle/>
          <a:p>
            <a:pPr>
              <a:buFont typeface="Wingdings" panose="05000000000000000000" pitchFamily="2" charset="2"/>
              <a:buChar char="u"/>
            </a:pPr>
            <a:r>
              <a:rPr lang="en-US" altLang="zh-CN" sz="2400" dirty="0" smtClean="0"/>
              <a:t>A summary essay should be organized so that others can understand the source or evaluate your comprehension of it. </a:t>
            </a:r>
          </a:p>
          <a:p>
            <a:pPr marL="457200" indent="-457200">
              <a:buFont typeface="+mj-lt"/>
              <a:buAutoNum type="alphaLcParenR"/>
            </a:pPr>
            <a:r>
              <a:rPr lang="en-US" altLang="zh-CN" sz="2400" dirty="0" smtClean="0"/>
              <a:t>The introduction (usually one paragraph)</a:t>
            </a:r>
          </a:p>
          <a:p>
            <a:pPr marL="960120" lvl="1" indent="-457200">
              <a:buFont typeface="+mj-lt"/>
              <a:buAutoNum type="alphaLcParenR"/>
            </a:pPr>
            <a:r>
              <a:rPr lang="en-US" altLang="zh-CN" sz="2200" dirty="0" smtClean="0"/>
              <a:t>Contains a one-sentence thesis statement that sums up the main point of the source.</a:t>
            </a:r>
          </a:p>
          <a:p>
            <a:pPr marL="960120" lvl="1" indent="-457200">
              <a:buFont typeface="+mj-lt"/>
              <a:buAutoNum type="alphaLcParenR"/>
            </a:pPr>
            <a:r>
              <a:rPr lang="en-US" altLang="zh-CN" sz="2200" dirty="0" smtClean="0"/>
              <a:t>Also introduces the text (title, author, etc.)</a:t>
            </a:r>
          </a:p>
          <a:p>
            <a:pPr marL="960120" lvl="1" indent="-457200">
              <a:buFont typeface="+mj-lt"/>
              <a:buAutoNum type="alphaLcParenR"/>
            </a:pPr>
            <a:r>
              <a:rPr lang="en-US" altLang="zh-CN" sz="2200" dirty="0" smtClean="0"/>
              <a:t>The article written by whom is concerned with what.</a:t>
            </a:r>
          </a:p>
          <a:p>
            <a:pPr marL="457200" indent="-457200">
              <a:buFont typeface="+mj-lt"/>
              <a:buAutoNum type="alphaLcParenR"/>
            </a:pPr>
            <a:r>
              <a:rPr lang="en-US" altLang="zh-CN" sz="2400" dirty="0" smtClean="0"/>
              <a:t>The body (one or more paragraphs)</a:t>
            </a:r>
          </a:p>
          <a:p>
            <a:pPr marL="960120" lvl="1" indent="-457200">
              <a:buFont typeface="+mj-lt"/>
              <a:buAutoNum type="alphaLcParenR"/>
            </a:pPr>
            <a:r>
              <a:rPr lang="en-US" altLang="zh-CN" sz="2200" dirty="0" smtClean="0"/>
              <a:t>Includes important points.</a:t>
            </a:r>
          </a:p>
          <a:p>
            <a:pPr marL="960120" lvl="1" indent="-457200">
              <a:buFont typeface="+mj-lt"/>
              <a:buAutoNum type="alphaLcParenR"/>
            </a:pPr>
            <a:r>
              <a:rPr lang="en-US" altLang="zh-CN" sz="2200" dirty="0" smtClean="0"/>
              <a:t>Includes one or more key examples or illustrations.</a:t>
            </a:r>
          </a:p>
          <a:p>
            <a:pPr marL="960120" lvl="1" indent="-457200">
              <a:buFont typeface="+mj-lt"/>
              <a:buAutoNum type="alphaLcParenR"/>
            </a:pPr>
            <a:r>
              <a:rPr lang="en-US" altLang="zh-CN" sz="2200" dirty="0" smtClean="0"/>
              <a:t>Do not include your own ideas.</a:t>
            </a:r>
          </a:p>
          <a:p>
            <a:pPr marL="457200" indent="-457200">
              <a:buFont typeface="+mj-lt"/>
              <a:buAutoNum type="alphaLcParenR"/>
            </a:pPr>
            <a:r>
              <a:rPr lang="en-US" altLang="zh-CN" sz="2400" dirty="0" smtClean="0"/>
              <a:t>There is customarily no conclusion.</a:t>
            </a:r>
          </a:p>
          <a:p>
            <a:pPr marL="960120" lvl="1" indent="-457200">
              <a:buFont typeface="+mj-lt"/>
              <a:buAutoNum type="alphaLcParenR"/>
            </a:pPr>
            <a:r>
              <a:rPr lang="en-US" altLang="zh-CN" sz="2200" dirty="0" smtClean="0"/>
              <a:t>Do not add your own concluding paragraph. </a:t>
            </a:r>
          </a:p>
          <a:p>
            <a:pPr marL="960120" lvl="1" indent="-457200">
              <a:buFont typeface="+mj-lt"/>
              <a:buAutoNum type="alphaLcParenR"/>
            </a:pPr>
            <a:endParaRPr lang="en-US" altLang="zh-CN" sz="2200" dirty="0" smtClean="0"/>
          </a:p>
          <a:p>
            <a:endParaRPr lang="zh-CN" altLang="en-US" sz="2400" dirty="0"/>
          </a:p>
        </p:txBody>
      </p:sp>
    </p:spTree>
    <p:extLst>
      <p:ext uri="{BB962C8B-B14F-4D97-AF65-F5344CB8AC3E}">
        <p14:creationId xmlns:p14="http://schemas.microsoft.com/office/powerpoint/2010/main" xmlns="" val="196064163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Checklist</a:t>
            </a:r>
            <a:endParaRPr lang="zh-CN" altLang="en-US" dirty="0"/>
          </a:p>
        </p:txBody>
      </p:sp>
      <p:sp>
        <p:nvSpPr>
          <p:cNvPr id="3" name="内容占位符 2"/>
          <p:cNvSpPr>
            <a:spLocks noGrp="1"/>
          </p:cNvSpPr>
          <p:nvPr>
            <p:ph idx="1"/>
          </p:nvPr>
        </p:nvSpPr>
        <p:spPr/>
        <p:txBody>
          <a:bodyPr>
            <a:normAutofit fontScale="85000" lnSpcReduction="20000"/>
          </a:bodyPr>
          <a:lstStyle/>
          <a:p>
            <a:r>
              <a:rPr lang="en-US" altLang="zh-CN" sz="2800" dirty="0" smtClean="0"/>
              <a:t>Is it clear what is being summarized?</a:t>
            </a:r>
          </a:p>
          <a:p>
            <a:r>
              <a:rPr lang="en-US" altLang="zh-CN" sz="2800" dirty="0" smtClean="0"/>
              <a:t>Is the thesis of the original essay clear in the summary?</a:t>
            </a:r>
          </a:p>
          <a:p>
            <a:r>
              <a:rPr lang="en-US" altLang="zh-CN" sz="2800" dirty="0" smtClean="0"/>
              <a:t>If you have read the original source, did you identify the same thesis?</a:t>
            </a:r>
          </a:p>
          <a:p>
            <a:r>
              <a:rPr lang="en-US" altLang="zh-CN" sz="2800" dirty="0" smtClean="0"/>
              <a:t>Is any key point missing?</a:t>
            </a:r>
          </a:p>
          <a:p>
            <a:r>
              <a:rPr lang="en-US" altLang="zh-CN" sz="2800" dirty="0" smtClean="0"/>
              <a:t>Is there any of the summarizer’s own opinions?</a:t>
            </a:r>
          </a:p>
          <a:p>
            <a:r>
              <a:rPr lang="en-US" altLang="zh-CN" sz="2800" dirty="0" smtClean="0"/>
              <a:t>Is there any unimportant details?</a:t>
            </a:r>
          </a:p>
          <a:p>
            <a:r>
              <a:rPr lang="en-US" altLang="zh-CN" sz="2800" dirty="0" smtClean="0"/>
              <a:t>Is there any point in the summary where you are lost because a transition is missing?</a:t>
            </a:r>
          </a:p>
          <a:p>
            <a:endParaRPr lang="en-US" altLang="zh-CN" sz="2400" dirty="0" smtClean="0"/>
          </a:p>
        </p:txBody>
      </p:sp>
    </p:spTree>
    <p:extLst>
      <p:ext uri="{BB962C8B-B14F-4D97-AF65-F5344CB8AC3E}">
        <p14:creationId xmlns:p14="http://schemas.microsoft.com/office/powerpoint/2010/main" xmlns="" val="154314335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normAutofit fontScale="90000"/>
          </a:bodyPr>
          <a:lstStyle/>
          <a:p>
            <a:r>
              <a:rPr lang="en-US" altLang="zh-CN" sz="4400" dirty="0" smtClean="0"/>
              <a:t>Let’s read the text, take notes and evaluate summaries. (Exercise V.)</a:t>
            </a:r>
            <a:endParaRPr lang="zh-CN" altLang="en-US" sz="4400" dirty="0"/>
          </a:p>
        </p:txBody>
      </p:sp>
      <p:sp>
        <p:nvSpPr>
          <p:cNvPr id="3" name="副标题 2"/>
          <p:cNvSpPr>
            <a:spLocks noGrp="1"/>
          </p:cNvSpPr>
          <p:nvPr>
            <p:ph type="subTitle" idx="1"/>
          </p:nvPr>
        </p:nvSpPr>
        <p:spPr/>
        <p:txBody>
          <a:bodyPr/>
          <a:lstStyle/>
          <a:p>
            <a:endParaRPr lang="zh-CN" altLang="en-US"/>
          </a:p>
        </p:txBody>
      </p:sp>
    </p:spTree>
    <p:extLst>
      <p:ext uri="{BB962C8B-B14F-4D97-AF65-F5344CB8AC3E}">
        <p14:creationId xmlns:p14="http://schemas.microsoft.com/office/powerpoint/2010/main" xmlns="" val="179582572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Summary Intro</a:t>
            </a:r>
            <a:endParaRPr lang="zh-CN" altLang="en-US" dirty="0"/>
          </a:p>
        </p:txBody>
      </p:sp>
      <p:sp>
        <p:nvSpPr>
          <p:cNvPr id="3" name="内容占位符 2"/>
          <p:cNvSpPr>
            <a:spLocks noGrp="1"/>
          </p:cNvSpPr>
          <p:nvPr>
            <p:ph idx="1"/>
          </p:nvPr>
        </p:nvSpPr>
        <p:spPr/>
        <p:txBody>
          <a:bodyPr>
            <a:normAutofit/>
          </a:bodyPr>
          <a:lstStyle/>
          <a:p>
            <a:r>
              <a:rPr lang="en-US" altLang="zh-CN" sz="2800" dirty="0" smtClean="0"/>
              <a:t>The article written by whom is concerned with what.</a:t>
            </a:r>
          </a:p>
          <a:p>
            <a:r>
              <a:rPr lang="en-US" altLang="zh-CN" sz="2800" dirty="0" smtClean="0"/>
              <a:t>In “…”, who (the author) does what.  </a:t>
            </a:r>
            <a:endParaRPr lang="zh-CN" altLang="en-US" sz="2800" dirty="0"/>
          </a:p>
        </p:txBody>
      </p:sp>
    </p:spTree>
    <p:extLst>
      <p:ext uri="{BB962C8B-B14F-4D97-AF65-F5344CB8AC3E}">
        <p14:creationId xmlns:p14="http://schemas.microsoft.com/office/powerpoint/2010/main" xmlns="" val="134466692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28596" y="1714488"/>
            <a:ext cx="8572560" cy="4929222"/>
          </a:xfrm>
        </p:spPr>
        <p:txBody>
          <a:bodyPr/>
          <a:lstStyle/>
          <a:p>
            <a:r>
              <a:rPr lang="en-US" altLang="zh-CN" dirty="0" smtClean="0"/>
              <a:t>      </a:t>
            </a:r>
            <a:r>
              <a:rPr lang="en-US" altLang="zh-CN" b="1" dirty="0" smtClean="0"/>
              <a:t>In</a:t>
            </a:r>
            <a:r>
              <a:rPr lang="en-US" altLang="zh-CN" dirty="0" smtClean="0"/>
              <a:t> “Driverless Cars …”, </a:t>
            </a:r>
            <a:r>
              <a:rPr lang="en-US" altLang="zh-CN" b="1" dirty="0" smtClean="0"/>
              <a:t>Judith </a:t>
            </a:r>
            <a:r>
              <a:rPr lang="en-US" altLang="zh-CN" b="1" dirty="0" err="1" smtClean="0"/>
              <a:t>Donath</a:t>
            </a:r>
            <a:r>
              <a:rPr lang="en-US" altLang="zh-CN" b="1" dirty="0" smtClean="0"/>
              <a:t> explains </a:t>
            </a:r>
            <a:r>
              <a:rPr lang="en-US" altLang="zh-CN" dirty="0" smtClean="0"/>
              <a:t>the effect of driverless cars. </a:t>
            </a:r>
            <a:r>
              <a:rPr lang="en-US" altLang="zh-CN" b="1" dirty="0" smtClean="0"/>
              <a:t>He states that</a:t>
            </a:r>
            <a:r>
              <a:rPr lang="en-US" altLang="zh-CN" dirty="0" smtClean="0"/>
              <a:t> driverless cars will make transportation free</a:t>
            </a:r>
            <a:r>
              <a:rPr lang="en-US" altLang="zh-CN" b="1" dirty="0" smtClean="0"/>
              <a:t>, but </a:t>
            </a:r>
            <a:r>
              <a:rPr lang="en-US" altLang="zh-CN" dirty="0" smtClean="0"/>
              <a:t>they will also bring </a:t>
            </a:r>
            <a:r>
              <a:rPr lang="en-US" altLang="zh-CN" b="1" dirty="0" smtClean="0"/>
              <a:t>many problems</a:t>
            </a:r>
            <a:r>
              <a:rPr lang="en-US" altLang="zh-CN" dirty="0" smtClean="0"/>
              <a:t>. </a:t>
            </a:r>
            <a:r>
              <a:rPr lang="en-US" altLang="zh-CN" b="1" dirty="0" smtClean="0"/>
              <a:t>First</a:t>
            </a:r>
            <a:r>
              <a:rPr lang="en-US" altLang="zh-CN" dirty="0" smtClean="0"/>
              <a:t>, they will harm the benefits of the consumers (passengers), making them pay more money. </a:t>
            </a:r>
            <a:r>
              <a:rPr lang="en-US" altLang="zh-CN" b="1" dirty="0" smtClean="0"/>
              <a:t>Second</a:t>
            </a:r>
            <a:r>
              <a:rPr lang="en-US" altLang="zh-CN" dirty="0" smtClean="0"/>
              <a:t>, they would bring environmental problems. </a:t>
            </a:r>
            <a:r>
              <a:rPr lang="en-US" altLang="zh-CN" b="1" dirty="0" smtClean="0"/>
              <a:t>Furthermore</a:t>
            </a:r>
            <a:r>
              <a:rPr lang="en-US" altLang="zh-CN" dirty="0" smtClean="0"/>
              <a:t>, they endanger consumers’ information security. </a:t>
            </a:r>
            <a:r>
              <a:rPr lang="en-US" altLang="zh-CN" b="1" dirty="0" smtClean="0"/>
              <a:t>Finally</a:t>
            </a:r>
            <a:r>
              <a:rPr lang="en-US" altLang="zh-CN" dirty="0" smtClean="0"/>
              <a:t>, they would cause unchecked consumption. </a:t>
            </a:r>
            <a:r>
              <a:rPr lang="en-US" altLang="zh-CN" b="1" dirty="0" smtClean="0"/>
              <a:t>To sum up</a:t>
            </a:r>
            <a:r>
              <a:rPr lang="en-US" altLang="zh-CN" dirty="0" smtClean="0"/>
              <a:t>, the goal of driverless cars is no different from the Las Vegas Cabbie. They aim to make profit for themselves.</a:t>
            </a:r>
            <a:endParaRPr lang="zh-CN" altLang="en-US" dirty="0"/>
          </a:p>
        </p:txBody>
      </p:sp>
      <p:sp>
        <p:nvSpPr>
          <p:cNvPr id="4" name="TextBox 3"/>
          <p:cNvSpPr txBox="1"/>
          <p:nvPr/>
        </p:nvSpPr>
        <p:spPr>
          <a:xfrm>
            <a:off x="1142976" y="642918"/>
            <a:ext cx="6429420" cy="646331"/>
          </a:xfrm>
          <a:prstGeom prst="rect">
            <a:avLst/>
          </a:prstGeom>
          <a:noFill/>
        </p:spPr>
        <p:txBody>
          <a:bodyPr wrap="square" rtlCol="0">
            <a:spAutoFit/>
          </a:bodyPr>
          <a:lstStyle/>
          <a:p>
            <a:pPr algn="ctr"/>
            <a:r>
              <a:rPr lang="en-US" altLang="zh-CN" sz="3600" dirty="0" smtClean="0"/>
              <a:t>Sample Summary of this article</a:t>
            </a:r>
            <a:endParaRPr lang="zh-CN" altLang="en-US" sz="36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38328"/>
            <a:ext cx="8543956" cy="1252728"/>
          </a:xfrm>
        </p:spPr>
        <p:txBody>
          <a:bodyPr>
            <a:normAutofit fontScale="90000"/>
          </a:bodyPr>
          <a:lstStyle/>
          <a:p>
            <a:r>
              <a:rPr lang="en-US" altLang="zh-CN" dirty="0" smtClean="0"/>
              <a:t>Assignment</a:t>
            </a:r>
            <a:br>
              <a:rPr lang="en-US" altLang="zh-CN" dirty="0" smtClean="0"/>
            </a:br>
            <a:r>
              <a:rPr lang="en-US" altLang="zh-CN" dirty="0" smtClean="0"/>
              <a:t>Summary of “Can a “Triple Package”…</a:t>
            </a:r>
            <a:endParaRPr lang="zh-CN" altLang="en-US" dirty="0"/>
          </a:p>
        </p:txBody>
      </p:sp>
      <p:sp>
        <p:nvSpPr>
          <p:cNvPr id="3" name="内容占位符 2"/>
          <p:cNvSpPr>
            <a:spLocks noGrp="1"/>
          </p:cNvSpPr>
          <p:nvPr>
            <p:ph idx="1"/>
          </p:nvPr>
        </p:nvSpPr>
        <p:spPr/>
        <p:txBody>
          <a:bodyPr>
            <a:normAutofit/>
          </a:bodyPr>
          <a:lstStyle/>
          <a:p>
            <a:r>
              <a:rPr lang="en-US" altLang="zh-CN" sz="2800" dirty="0" smtClean="0"/>
              <a:t>The article written by whom is concerned with what.</a:t>
            </a:r>
          </a:p>
          <a:p>
            <a:r>
              <a:rPr lang="en-US" altLang="zh-CN" sz="2800" b="1" dirty="0" smtClean="0"/>
              <a:t>In “…”, who (the author) does what.</a:t>
            </a:r>
          </a:p>
          <a:p>
            <a:pPr marL="0" indent="0">
              <a:buNone/>
            </a:pPr>
            <a:r>
              <a:rPr lang="en-US" altLang="zh-CN" sz="2800" dirty="0" smtClean="0"/>
              <a:t>In “”, D.G. explains/discusses/introduces…</a:t>
            </a:r>
          </a:p>
          <a:p>
            <a:r>
              <a:rPr lang="en-US" altLang="zh-CN" sz="2800" dirty="0" smtClean="0"/>
              <a:t>Amy Chua’s triple package thesis/hypothesis</a:t>
            </a:r>
          </a:p>
          <a:p>
            <a:r>
              <a:rPr lang="en-US" altLang="zh-CN" sz="2800" dirty="0" smtClean="0"/>
              <a:t>How it is refuted by science/ two scholars…  </a:t>
            </a:r>
            <a:endParaRPr lang="zh-CN" altLang="en-US" sz="2800" dirty="0"/>
          </a:p>
        </p:txBody>
      </p:sp>
    </p:spTree>
    <p:extLst>
      <p:ext uri="{BB962C8B-B14F-4D97-AF65-F5344CB8AC3E}">
        <p14:creationId xmlns:p14="http://schemas.microsoft.com/office/powerpoint/2010/main" xmlns="" val="11476788"/>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9690" y="1138585"/>
            <a:ext cx="2088937" cy="4601183"/>
          </a:xfrm>
        </p:spPr>
        <p:txBody>
          <a:bodyPr>
            <a:normAutofit/>
          </a:bodyPr>
          <a:lstStyle/>
          <a:p>
            <a:pPr algn="ctr"/>
            <a:r>
              <a:rPr lang="en-US" altLang="zh-CN" sz="3600" b="1" dirty="0" smtClean="0">
                <a:solidFill>
                  <a:schemeClr val="accent2"/>
                </a:solidFill>
              </a:rPr>
              <a:t>Structure </a:t>
            </a:r>
            <a:br>
              <a:rPr lang="en-US" altLang="zh-CN" sz="3600" b="1" dirty="0" smtClean="0">
                <a:solidFill>
                  <a:schemeClr val="accent2"/>
                </a:solidFill>
              </a:rPr>
            </a:br>
            <a:r>
              <a:rPr lang="en-US" altLang="zh-CN" sz="3600" b="1" dirty="0" smtClean="0">
                <a:solidFill>
                  <a:schemeClr val="accent2"/>
                </a:solidFill>
              </a:rPr>
              <a:t>of this article</a:t>
            </a:r>
            <a:r>
              <a:rPr lang="en-US" altLang="zh-CN" sz="3600" dirty="0" smtClean="0"/>
              <a:t/>
            </a:r>
            <a:br>
              <a:rPr lang="en-US" altLang="zh-CN" sz="3600" dirty="0" smtClean="0"/>
            </a:br>
            <a:endParaRPr lang="zh-CN" altLang="en-US" sz="3600" dirty="0"/>
          </a:p>
        </p:txBody>
      </p:sp>
      <p:sp>
        <p:nvSpPr>
          <p:cNvPr id="4" name="内容占位符 3"/>
          <p:cNvSpPr>
            <a:spLocks noGrp="1"/>
          </p:cNvSpPr>
          <p:nvPr>
            <p:ph sz="half" idx="2"/>
          </p:nvPr>
        </p:nvSpPr>
        <p:spPr>
          <a:xfrm>
            <a:off x="2615939" y="754144"/>
            <a:ext cx="6221690" cy="5420412"/>
          </a:xfrm>
        </p:spPr>
        <p:txBody>
          <a:bodyPr>
            <a:normAutofit fontScale="92500" lnSpcReduction="20000"/>
          </a:bodyPr>
          <a:lstStyle/>
          <a:p>
            <a:pPr marL="571500" indent="-571500">
              <a:buNone/>
            </a:pPr>
            <a:r>
              <a:rPr lang="en-US" altLang="zh-CN" sz="3200" dirty="0" smtClean="0"/>
              <a:t>I. Introduction:  </a:t>
            </a:r>
            <a:r>
              <a:rPr lang="en-US" altLang="zh-CN" sz="3200" dirty="0" smtClean="0">
                <a:solidFill>
                  <a:srgbClr val="0070C0"/>
                </a:solidFill>
              </a:rPr>
              <a:t>the idea, public responses,</a:t>
            </a:r>
            <a:r>
              <a:rPr lang="zh-CN" altLang="en-US" sz="3200" dirty="0" smtClean="0">
                <a:solidFill>
                  <a:srgbClr val="0070C0"/>
                </a:solidFill>
              </a:rPr>
              <a:t>  </a:t>
            </a:r>
            <a:endParaRPr lang="en-US" altLang="zh-CN" sz="3200" dirty="0" smtClean="0">
              <a:solidFill>
                <a:srgbClr val="0070C0"/>
              </a:solidFill>
            </a:endParaRPr>
          </a:p>
          <a:p>
            <a:pPr marL="571500" indent="-571500">
              <a:buNone/>
            </a:pPr>
            <a:r>
              <a:rPr lang="en-US" altLang="zh-CN" sz="3200" dirty="0" smtClean="0">
                <a:solidFill>
                  <a:srgbClr val="0070C0"/>
                </a:solidFill>
              </a:rPr>
              <a:t>       </a:t>
            </a:r>
            <a:r>
              <a:rPr lang="en-US" altLang="zh-CN" sz="2800" i="1" dirty="0" smtClean="0">
                <a:solidFill>
                  <a:srgbClr val="0070C0"/>
                </a:solidFill>
              </a:rPr>
              <a:t>(Para.1-4)         </a:t>
            </a:r>
            <a:r>
              <a:rPr lang="en-US" altLang="zh-CN" sz="3200" dirty="0" smtClean="0">
                <a:solidFill>
                  <a:srgbClr val="0070C0"/>
                </a:solidFill>
              </a:rPr>
              <a:t>research purpose</a:t>
            </a:r>
            <a:endParaRPr lang="zh-CN" altLang="en-US" sz="3200" dirty="0" smtClean="0">
              <a:solidFill>
                <a:srgbClr val="0070C0"/>
              </a:solidFill>
            </a:endParaRPr>
          </a:p>
          <a:p>
            <a:pPr>
              <a:buNone/>
            </a:pPr>
            <a:r>
              <a:rPr lang="en-US" altLang="zh-CN" sz="3200" dirty="0" smtClean="0"/>
              <a:t>II. Materials </a:t>
            </a:r>
          </a:p>
          <a:p>
            <a:pPr>
              <a:buNone/>
            </a:pPr>
            <a:r>
              <a:rPr lang="en-US" altLang="zh-CN" sz="3200" dirty="0" smtClean="0"/>
              <a:t>    and Methods</a:t>
            </a:r>
            <a:r>
              <a:rPr lang="en-US" altLang="zh-CN" sz="3200" dirty="0" smtClean="0">
                <a:solidFill>
                  <a:schemeClr val="tx2"/>
                </a:solidFill>
              </a:rPr>
              <a:t>:</a:t>
            </a:r>
            <a:r>
              <a:rPr lang="en-US" altLang="zh-CN" sz="3200" dirty="0" smtClean="0">
                <a:solidFill>
                  <a:srgbClr val="0070C0"/>
                </a:solidFill>
              </a:rPr>
              <a:t> the test (sample, method,</a:t>
            </a:r>
          </a:p>
          <a:p>
            <a:pPr>
              <a:buNone/>
            </a:pPr>
            <a:r>
              <a:rPr lang="en-US" altLang="zh-CN" sz="3200" dirty="0" smtClean="0">
                <a:solidFill>
                  <a:srgbClr val="0070C0"/>
                </a:solidFill>
              </a:rPr>
              <a:t>        </a:t>
            </a:r>
            <a:r>
              <a:rPr lang="en-US" altLang="zh-CN" sz="2800" i="1" dirty="0" smtClean="0">
                <a:solidFill>
                  <a:srgbClr val="0070C0"/>
                </a:solidFill>
              </a:rPr>
              <a:t>(Para.5-7)                               </a:t>
            </a:r>
            <a:r>
              <a:rPr lang="en-US" altLang="zh-CN" sz="3200" dirty="0" smtClean="0">
                <a:solidFill>
                  <a:srgbClr val="0070C0"/>
                </a:solidFill>
              </a:rPr>
              <a:t>procedures)</a:t>
            </a:r>
          </a:p>
          <a:p>
            <a:pPr>
              <a:buNone/>
            </a:pPr>
            <a:r>
              <a:rPr lang="en-US" altLang="zh-CN" sz="3200" dirty="0" smtClean="0"/>
              <a:t>III. Results:        </a:t>
            </a:r>
            <a:r>
              <a:rPr lang="en-US" altLang="zh-CN" sz="3200" dirty="0" smtClean="0">
                <a:solidFill>
                  <a:srgbClr val="0070C0"/>
                </a:solidFill>
              </a:rPr>
              <a:t>the</a:t>
            </a:r>
            <a:r>
              <a:rPr lang="en-US" altLang="zh-CN" sz="3200" dirty="0" smtClean="0"/>
              <a:t> </a:t>
            </a:r>
            <a:r>
              <a:rPr lang="en-US" altLang="zh-CN" sz="3200" dirty="0" smtClean="0">
                <a:solidFill>
                  <a:srgbClr val="0070C0"/>
                </a:solidFill>
              </a:rPr>
              <a:t>findings</a:t>
            </a:r>
          </a:p>
          <a:p>
            <a:pPr>
              <a:buNone/>
            </a:pPr>
            <a:r>
              <a:rPr lang="en-US" altLang="zh-CN" sz="3200" dirty="0" smtClean="0"/>
              <a:t>        </a:t>
            </a:r>
            <a:r>
              <a:rPr lang="en-US" altLang="zh-CN" sz="2800" i="1" dirty="0" smtClean="0">
                <a:solidFill>
                  <a:srgbClr val="0070C0"/>
                </a:solidFill>
              </a:rPr>
              <a:t>(Para.8-9) </a:t>
            </a:r>
          </a:p>
          <a:p>
            <a:pPr>
              <a:buNone/>
            </a:pPr>
            <a:r>
              <a:rPr lang="en-US" altLang="zh-CN" sz="3200" dirty="0" smtClean="0"/>
              <a:t>IV. Discussion: </a:t>
            </a:r>
            <a:r>
              <a:rPr lang="en-US" altLang="zh-CN" sz="3200" dirty="0" smtClean="0">
                <a:solidFill>
                  <a:srgbClr val="0070C0"/>
                </a:solidFill>
              </a:rPr>
              <a:t>explanation, conclusion</a:t>
            </a:r>
          </a:p>
          <a:p>
            <a:pPr>
              <a:buNone/>
            </a:pPr>
            <a:r>
              <a:rPr lang="en-US" altLang="zh-CN" sz="2800" i="1" dirty="0" smtClean="0">
                <a:solidFill>
                  <a:srgbClr val="0070C0"/>
                </a:solidFill>
              </a:rPr>
              <a:t>        (Para.10</a:t>
            </a:r>
            <a:r>
              <a:rPr lang="zh-CN" altLang="en-US" sz="2800" i="1" dirty="0" smtClean="0">
                <a:solidFill>
                  <a:srgbClr val="0070C0"/>
                </a:solidFill>
              </a:rPr>
              <a:t>）</a:t>
            </a:r>
            <a:endParaRPr lang="en-US" altLang="zh-CN" sz="2800" i="1" dirty="0" smtClean="0">
              <a:solidFill>
                <a:srgbClr val="0070C0"/>
              </a:solidFill>
            </a:endParaRPr>
          </a:p>
        </p:txBody>
      </p:sp>
    </p:spTree>
    <p:extLst>
      <p:ext uri="{BB962C8B-B14F-4D97-AF65-F5344CB8AC3E}">
        <p14:creationId xmlns="" xmlns:p14="http://schemas.microsoft.com/office/powerpoint/2010/main" val="3439079682"/>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57158" y="1164134"/>
            <a:ext cx="8064896" cy="5693866"/>
          </a:xfrm>
          <a:prstGeom prst="rect">
            <a:avLst/>
          </a:prstGeom>
          <a:noFill/>
        </p:spPr>
        <p:txBody>
          <a:bodyPr wrap="square" rtlCol="0" anchor="ctr">
            <a:spAutoFit/>
          </a:bodyPr>
          <a:lstStyle/>
          <a:p>
            <a:pPr algn="just"/>
            <a:r>
              <a:rPr lang="en-US" altLang="zh-CN" sz="2800" b="1" dirty="0" smtClean="0"/>
              <a:t>Exercise V: Translation the following into Chinese.</a:t>
            </a:r>
            <a:endParaRPr lang="zh-CN" altLang="zh-CN" sz="2800" b="1" dirty="0"/>
          </a:p>
          <a:p>
            <a:pPr algn="just"/>
            <a:r>
              <a:rPr lang="en-US" altLang="zh-CN" sz="2800" dirty="0" smtClean="0"/>
              <a:t>     There </a:t>
            </a:r>
            <a:r>
              <a:rPr lang="en-US" altLang="zh-CN" sz="2800" dirty="0"/>
              <a:t>are different opinions on who should be held liable in case of a crash, in particular with people being hurt. Many experts see the car manufacturers themselves responsible for those crashes that occur due to a technical malfunction or misconstruction. Besides the fact that the car manufacturer would be the source of the problem in a situation where a car crashes due to a technical issue, there is another important reason why car manufacturers could be held responsible: it would encourage them to innovate and heavily invest into fixing those issues, </a:t>
            </a:r>
            <a:endParaRPr lang="zh-CN" altLang="en-US" sz="2800" dirty="0"/>
          </a:p>
        </p:txBody>
      </p:sp>
    </p:spTree>
    <p:extLst>
      <p:ext uri="{BB962C8B-B14F-4D97-AF65-F5344CB8AC3E}">
        <p14:creationId xmlns:p14="http://schemas.microsoft.com/office/powerpoint/2010/main" xmlns="" val="4135025901"/>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67544" y="1268760"/>
            <a:ext cx="7632848" cy="3970318"/>
          </a:xfrm>
          <a:prstGeom prst="rect">
            <a:avLst/>
          </a:prstGeom>
          <a:noFill/>
        </p:spPr>
        <p:txBody>
          <a:bodyPr wrap="square" rtlCol="0">
            <a:spAutoFit/>
          </a:bodyPr>
          <a:lstStyle/>
          <a:p>
            <a:pPr algn="just"/>
            <a:r>
              <a:rPr lang="en-US" altLang="zh-CN" sz="2800" dirty="0"/>
              <a:t>not only due to protection of the brand image, but also due to financial and criminal consequences. However, there are also voices that argue those using or owning the vehicle should be held responsible since they know the risks involved in using such a vehicle. Experts suggest introducing a tax or insurances that would protect owners and users of autonomous vehicles of claims made by victims of an accident. </a:t>
            </a:r>
            <a:endParaRPr lang="zh-CN" altLang="zh-CN" sz="2800" dirty="0"/>
          </a:p>
        </p:txBody>
      </p:sp>
    </p:spTree>
    <p:extLst>
      <p:ext uri="{BB962C8B-B14F-4D97-AF65-F5344CB8AC3E}">
        <p14:creationId xmlns:p14="http://schemas.microsoft.com/office/powerpoint/2010/main" xmlns="" val="2908380543"/>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27584" y="1052736"/>
            <a:ext cx="7632848" cy="4585871"/>
          </a:xfrm>
          <a:prstGeom prst="rect">
            <a:avLst/>
          </a:prstGeom>
          <a:noFill/>
        </p:spPr>
        <p:txBody>
          <a:bodyPr wrap="square" rtlCol="0">
            <a:spAutoFit/>
          </a:bodyPr>
          <a:lstStyle/>
          <a:p>
            <a:r>
              <a:rPr lang="en-US" altLang="zh-CN" sz="2800" b="1" dirty="0" smtClean="0"/>
              <a:t>Answer key for your reference</a:t>
            </a:r>
            <a:endParaRPr lang="en-US" altLang="zh-CN" sz="2800" dirty="0" smtClean="0"/>
          </a:p>
          <a:p>
            <a:r>
              <a:rPr lang="zh-CN" altLang="zh-CN" sz="2400" dirty="0" smtClean="0"/>
              <a:t>由</a:t>
            </a:r>
            <a:r>
              <a:rPr lang="zh-CN" altLang="zh-CN" sz="2400" dirty="0"/>
              <a:t>谁来承担车祸责任，特别是事故中有人受伤，对这个问题人们有不同的观点。很多专家认为汽车生产商应该承担由于技术故障或汽车结构缺陷引发的事故责任。除了由于技术故障引起的事故中生产者是事故的根源这一事实外，另一个让厂家负责的重要原因</a:t>
            </a:r>
            <a:r>
              <a:rPr lang="zh-CN" altLang="zh-CN" sz="2400" dirty="0" smtClean="0"/>
              <a:t>是</a:t>
            </a:r>
            <a:r>
              <a:rPr lang="zh-CN" altLang="zh-CN" sz="2400" dirty="0"/>
              <a:t>它会促使生产者进行技术改进，投重资以解决技术问题</a:t>
            </a:r>
            <a:r>
              <a:rPr lang="zh-CN" altLang="zh-CN" sz="2400" dirty="0" smtClean="0"/>
              <a:t>，这么</a:t>
            </a:r>
            <a:r>
              <a:rPr lang="zh-CN" altLang="zh-CN" sz="2400" dirty="0"/>
              <a:t>做不仅仅是为了保护品牌形象，也是因为承担经济和犯罪后果的需要。但也有另外的声音，他们认为既然车辆的使用者或拥有者知道其风险，他们也应该承担责任。专家们建议引入新的税种或险种，以保护这种自动</a:t>
            </a:r>
            <a:r>
              <a:rPr lang="zh-CN" altLang="zh-CN" sz="2400"/>
              <a:t>驾驶</a:t>
            </a:r>
            <a:r>
              <a:rPr lang="zh-CN" altLang="zh-CN" sz="2400" smtClean="0"/>
              <a:t>车辆</a:t>
            </a:r>
            <a:r>
              <a:rPr lang="zh-CN" altLang="en-US" sz="2400" smtClean="0"/>
              <a:t>的车主和用户免受事故受害者的索赔。</a:t>
            </a:r>
            <a:endParaRPr lang="zh-CN" altLang="en-US" sz="2400" dirty="0"/>
          </a:p>
        </p:txBody>
      </p:sp>
    </p:spTree>
    <p:extLst>
      <p:ext uri="{BB962C8B-B14F-4D97-AF65-F5344CB8AC3E}">
        <p14:creationId xmlns:p14="http://schemas.microsoft.com/office/powerpoint/2010/main" xmlns="" val="2818666003"/>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波形">
  <a:themeElements>
    <a:clrScheme name="波形">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波形">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波形">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blip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Waveform</Template>
  <TotalTime>6024</TotalTime>
  <Words>1827</Words>
  <Application>Microsoft Office PowerPoint</Application>
  <PresentationFormat>全屏显示(4:3)</PresentationFormat>
  <Paragraphs>122</Paragraphs>
  <Slides>31</Slides>
  <Notes>4</Notes>
  <HiddenSlides>0</HiddenSlides>
  <MMClips>0</MMClips>
  <ScaleCrop>false</ScaleCrop>
  <HeadingPairs>
    <vt:vector size="4" baseType="variant">
      <vt:variant>
        <vt:lpstr>主题</vt:lpstr>
      </vt:variant>
      <vt:variant>
        <vt:i4>1</vt:i4>
      </vt:variant>
      <vt:variant>
        <vt:lpstr>幻灯片标题</vt:lpstr>
      </vt:variant>
      <vt:variant>
        <vt:i4>31</vt:i4>
      </vt:variant>
    </vt:vector>
  </HeadingPairs>
  <TitlesOfParts>
    <vt:vector size="32" baseType="lpstr">
      <vt:lpstr>波形</vt:lpstr>
      <vt:lpstr>幻灯片 1</vt:lpstr>
      <vt:lpstr>幻灯片 2</vt:lpstr>
      <vt:lpstr>幻灯片 3</vt:lpstr>
      <vt:lpstr>幻灯片 4</vt:lpstr>
      <vt:lpstr>幻灯片 5</vt:lpstr>
      <vt:lpstr>幻灯片 6</vt:lpstr>
      <vt:lpstr>幻灯片 7</vt:lpstr>
      <vt:lpstr>幻灯片 8</vt:lpstr>
      <vt:lpstr>幻灯片 9</vt:lpstr>
      <vt:lpstr>幻灯片 10</vt:lpstr>
      <vt:lpstr>幻灯片 11</vt:lpstr>
      <vt:lpstr>幻灯片 12</vt:lpstr>
      <vt:lpstr>幻灯片 13</vt:lpstr>
      <vt:lpstr>幻灯片 14</vt:lpstr>
      <vt:lpstr>幻灯片 15</vt:lpstr>
      <vt:lpstr>幻灯片 16</vt:lpstr>
      <vt:lpstr>Drill Read and Summarize </vt:lpstr>
      <vt:lpstr>幻灯片 18</vt:lpstr>
      <vt:lpstr>幻灯片 19</vt:lpstr>
      <vt:lpstr>Key features of a summary</vt:lpstr>
      <vt:lpstr>Tips &amp; Tricks: Guidelines for Summarizing </vt:lpstr>
      <vt:lpstr>Summary Format</vt:lpstr>
      <vt:lpstr>Checklist</vt:lpstr>
      <vt:lpstr>Let’s read the text, take notes and evaluate summaries. (Exercise V.)</vt:lpstr>
      <vt:lpstr>Summary Intro</vt:lpstr>
      <vt:lpstr>幻灯片 26</vt:lpstr>
      <vt:lpstr>Assignment Summary of “Can a “Triple Package”…</vt:lpstr>
      <vt:lpstr>Structure  of this article </vt:lpstr>
      <vt:lpstr>幻灯片 29</vt:lpstr>
      <vt:lpstr>幻灯片 30</vt:lpstr>
      <vt:lpstr>幻灯片 31</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123</dc:creator>
  <cp:lastModifiedBy>mejust</cp:lastModifiedBy>
  <cp:revision>68</cp:revision>
  <dcterms:created xsi:type="dcterms:W3CDTF">2018-07-26T14:13:28Z</dcterms:created>
  <dcterms:modified xsi:type="dcterms:W3CDTF">2020-12-25T00:46:52Z</dcterms:modified>
</cp:coreProperties>
</file>